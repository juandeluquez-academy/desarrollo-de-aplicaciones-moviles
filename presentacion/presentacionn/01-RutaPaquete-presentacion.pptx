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4f72e3abb24166" /><Relationship Type="http://schemas.openxmlformats.org/officeDocument/2006/relationships/extended-properties" Target="/docProps/app.xml" Id="R1d662a2584ae4917" /><Relationship Type="http://schemas.openxmlformats.org/officeDocument/2006/relationships/officeDocument" Target="/ppt/presentation.xml" Id="Rec6e4d19419c47ef" /></Relationships>
</file>

<file path=ppt/presentation.xml><?xml version="1.0" encoding="utf-8"?>
<p:presentation xmlns:p="http://schemas.openxmlformats.org/presentationml/2006/main">
  <p:sldMasterIdLst>
    <p:sldMasterId xmlns:r="http://schemas.openxmlformats.org/officeDocument/2006/relationships" id="2147483648" r:id="R62a1311ea63e4e4d"/>
  </p:sldMasterIdLst>
  <p:notesMasterIdLst>
    <p:notesMasterId xmlns:r="http://schemas.openxmlformats.org/officeDocument/2006/relationships" r:id="R760bb67a20f14e84"/>
  </p:notesMasterIdLst>
  <p:sldIdLst>
    <p:sldId xmlns:r="http://schemas.openxmlformats.org/officeDocument/2006/relationships" id="256" r:id="R37940a2251b4448d"/>
    <p:sldId xmlns:r="http://schemas.openxmlformats.org/officeDocument/2006/relationships" id="257" r:id="Ra2b0bcd6112d467f"/>
    <p:sldId xmlns:r="http://schemas.openxmlformats.org/officeDocument/2006/relationships" id="258" r:id="R30919c8b6b60435b"/>
    <p:sldId xmlns:r="http://schemas.openxmlformats.org/officeDocument/2006/relationships" id="259" r:id="R474fbd5b9d794c17"/>
    <p:sldId xmlns:r="http://schemas.openxmlformats.org/officeDocument/2006/relationships" id="260" r:id="R487b72799ccf4644"/>
    <p:sldId xmlns:r="http://schemas.openxmlformats.org/officeDocument/2006/relationships" id="261" r:id="Rba1be1b2af6d4891"/>
    <p:sldId xmlns:r="http://schemas.openxmlformats.org/officeDocument/2006/relationships" id="262" r:id="R334fcb852fb445a0"/>
    <p:sldId xmlns:r="http://schemas.openxmlformats.org/officeDocument/2006/relationships" id="263" r:id="Rb6b04887140e4451"/>
    <p:sldId xmlns:r="http://schemas.openxmlformats.org/officeDocument/2006/relationships" id="264" r:id="R0f0c2d54857949a8"/>
    <p:sldId xmlns:r="http://schemas.openxmlformats.org/officeDocument/2006/relationships" id="265" r:id="Rfc0f7565ff554919"/>
    <p:sldId xmlns:r="http://schemas.openxmlformats.org/officeDocument/2006/relationships" id="266" r:id="R7452a6e387474d43"/>
    <p:sldId xmlns:r="http://schemas.openxmlformats.org/officeDocument/2006/relationships" id="267" r:id="Re9c790a60d5845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8f100e25e44614" /><Relationship Type="http://schemas.openxmlformats.org/officeDocument/2006/relationships/slideMaster" Target="/ppt/slideMasters/slideMaster1.xml" Id="R62a1311ea63e4e4d" /><Relationship Type="http://schemas.openxmlformats.org/officeDocument/2006/relationships/notesMaster" Target="/ppt/notesMasters/notesMaster1.xml" Id="R760bb67a20f14e84" /><Relationship Type="http://schemas.openxmlformats.org/officeDocument/2006/relationships/presProps" Target="/ppt/presProps.xml" Id="Rb3946f24ac8d4394" /><Relationship Type="http://schemas.openxmlformats.org/officeDocument/2006/relationships/tableStyles" Target="/ppt/tableStyles.xml" Id="Rcedbcda989174612" /><Relationship Type="http://schemas.openxmlformats.org/officeDocument/2006/relationships/slide" Target="/ppt/slides/slide1.xml" Id="R37940a2251b4448d" /><Relationship Type="http://schemas.openxmlformats.org/officeDocument/2006/relationships/slide" Target="/ppt/slides/slide2.xml" Id="Ra2b0bcd6112d467f" /><Relationship Type="http://schemas.openxmlformats.org/officeDocument/2006/relationships/slide" Target="/ppt/slides/slide3.xml" Id="R30919c8b6b60435b" /><Relationship Type="http://schemas.openxmlformats.org/officeDocument/2006/relationships/slide" Target="/ppt/slides/slide4.xml" Id="R474fbd5b9d794c17" /><Relationship Type="http://schemas.openxmlformats.org/officeDocument/2006/relationships/slide" Target="/ppt/slides/slide5.xml" Id="R487b72799ccf4644" /><Relationship Type="http://schemas.openxmlformats.org/officeDocument/2006/relationships/slide" Target="/ppt/slides/slide6.xml" Id="Rba1be1b2af6d4891" /><Relationship Type="http://schemas.openxmlformats.org/officeDocument/2006/relationships/slide" Target="/ppt/slides/slide7.xml" Id="R334fcb852fb445a0" /><Relationship Type="http://schemas.openxmlformats.org/officeDocument/2006/relationships/slide" Target="/ppt/slides/slide8.xml" Id="Rb6b04887140e4451" /><Relationship Type="http://schemas.openxmlformats.org/officeDocument/2006/relationships/slide" Target="/ppt/slides/slide9.xml" Id="R0f0c2d54857949a8" /><Relationship Type="http://schemas.openxmlformats.org/officeDocument/2006/relationships/slide" Target="/ppt/slides/slide10.xml" Id="Rfc0f7565ff554919" /><Relationship Type="http://schemas.openxmlformats.org/officeDocument/2006/relationships/slide" Target="/ppt/slides/slide11.xml" Id="R7452a6e387474d43" /><Relationship Type="http://schemas.openxmlformats.org/officeDocument/2006/relationships/slide" Target="/ppt/slides/slide12.xml" Id="Re9c790a60d5845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e0637d82e343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ae111abdef4348" /><Relationship Type="http://schemas.openxmlformats.org/officeDocument/2006/relationships/notesMaster" Target="/ppt/notesMasters/notesMaster1.xml" Id="R8a5bdc8df51244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e9bac2f84548e3" /><Relationship Type="http://schemas.openxmlformats.org/officeDocument/2006/relationships/notesMaster" Target="/ppt/notesMasters/notesMaster1.xml" Id="Ra6f396ff3c3f45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49ffe61af34cef" /><Relationship Type="http://schemas.openxmlformats.org/officeDocument/2006/relationships/notesMaster" Target="/ppt/notesMasters/notesMaster1.xml" Id="R6840de24ca7d43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68016180fa49cb" /><Relationship Type="http://schemas.openxmlformats.org/officeDocument/2006/relationships/notesMaster" Target="/ppt/notesMasters/notesMaster1.xml" Id="R4ec540ca1c9742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b8a2d953e84bcd" /><Relationship Type="http://schemas.openxmlformats.org/officeDocument/2006/relationships/notesMaster" Target="/ppt/notesMasters/notesMaster1.xml" Id="R117415a88d2c49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e2c429ddc447a0" /><Relationship Type="http://schemas.openxmlformats.org/officeDocument/2006/relationships/notesMaster" Target="/ppt/notesMasters/notesMaster1.xml" Id="R78af0b8dca6048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142701c4524e4c" /><Relationship Type="http://schemas.openxmlformats.org/officeDocument/2006/relationships/notesMaster" Target="/ppt/notesMasters/notesMaster1.xml" Id="R613ff9c900f140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58e0e6a0754eef" /><Relationship Type="http://schemas.openxmlformats.org/officeDocument/2006/relationships/notesMaster" Target="/ppt/notesMasters/notesMaster1.xml" Id="R5d2a45df44004f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04124b54d6472d" /><Relationship Type="http://schemas.openxmlformats.org/officeDocument/2006/relationships/notesMaster" Target="/ppt/notesMasters/notesMaster1.xml" Id="Rf0bcd43896ae4e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b4ead6336543f0" /><Relationship Type="http://schemas.openxmlformats.org/officeDocument/2006/relationships/notesMaster" Target="/ppt/notesMasters/notesMaster1.xml" Id="Rc5458cce16694c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ac15440ffc437a" /><Relationship Type="http://schemas.openxmlformats.org/officeDocument/2006/relationships/notesMaster" Target="/ppt/notesMasters/notesMaster1.xml" Id="Re7147b6d95794f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9c94bab7e949f7" /><Relationship Type="http://schemas.openxmlformats.org/officeDocument/2006/relationships/notesMaster" Target="/ppt/notesMasters/notesMaster1.xml" Id="R51ed28e47ad842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RutaPaquete</a:t>
            </a:r>
          </a:p>
          <a:p xmlns:a="http://schemas.openxmlformats.org/drawingml/2006/main">
            <a:r>
              <a:t/>
            </a:r>
          </a:p>
          <a:p xmlns:a="http://schemas.openxmlformats.org/drawingml/2006/main">
            <a:r>
              <a:t>**Juan. Aproximadamente 35 segundos.**</a:t>
            </a:r>
          </a:p>
          <a:p xmlns:a="http://schemas.openxmlformats.org/drawingml/2006/main">
            <a:r>
              <a:t/>
            </a:r>
          </a:p>
          <a:p xmlns:a="http://schemas.openxmlformats.org/drawingml/2006/main">
            <a:r>
              <a:t>Buen día, profesora. Somos Juan y Humberto y vamos a presentar RutaPaquete, nuestra aplicación Android para administrar y consultar envíos. La desarrollamos en Kotlin y esta versión ya permite registrar clientes, gestionar paquetes y consultar su información según la cuenta que inicia sesión. Primero explicaremos el problema que buscamos atender, después mostraremos las funciones y la parte técnica. Al final presentaremos una demostración grabada de la aplicación, sin audio, como respaldo del funcionamiento.</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El problema y la propuesta</a:t>
            </a:r>
          </a:p>
          <a:p xmlns:a="http://schemas.openxmlformats.org/drawingml/2006/main">
            <a:r>
              <a:t/>
            </a:r>
          </a:p>
          <a:p xmlns:a="http://schemas.openxmlformats.org/drawingml/2006/main">
            <a:r>
              <a:t>**Juan. Aproximadamente 50 segundos.**</a:t>
            </a:r>
          </a:p>
          <a:p xmlns:a="http://schemas.openxmlformats.org/drawingml/2006/main">
            <a:r>
              <a:t/>
            </a:r>
          </a:p>
          <a:p xmlns:a="http://schemas.openxmlformats.org/drawingml/2006/main">
            <a:r>
              <a:t>La idea parte de una situación común en un negocio pequeño: los pedidos y los datos de sus clientes pueden quedar repartidos entre mensajes, hojas de cálculo y anotaciones. Eso dificulta saber a quién corresponde un paquete y cuál es su estado más reciente. RutaPaquete reúne esa información y relaciona cada envío con una cuenta cliente. Buscamos facilitar la consulta y las correcciones, además de evitar que otra persona consulte un paquete solo por conocer su código. Esta versión demuestra la idea de negocio. Todavía no hemos medido sus beneficios en una empresa real. Humberto explicará cómo dividimos las responsabilidades.</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Administrador y cliente</a:t>
            </a:r>
          </a:p>
          <a:p xmlns:a="http://schemas.openxmlformats.org/drawingml/2006/main">
            <a:r>
              <a:t/>
            </a:r>
          </a:p>
          <a:p xmlns:a="http://schemas.openxmlformats.org/drawingml/2006/main">
            <a:r>
              <a:t>**Humberto. Aproximadamente 40 segundos.**</a:t>
            </a:r>
          </a:p>
          <a:p xmlns:a="http://schemas.openxmlformats.org/drawingml/2006/main">
            <a:r>
              <a:t/>
            </a:r>
          </a:p>
          <a:p xmlns:a="http://schemas.openxmlformats.org/drawingml/2006/main">
            <a:r>
              <a:t>La aplicación tiene dos roles. El administrador puede consultar a los clientes registrados y gestionar los paquetes. El cliente puede buscar sus propios envíos y actualizar su información personal. La aplicación determina el rol al iniciar sesión y abre la pantalla correspondiente. En el primer uso, el responsable configura una cuenta administradora con sus propias credenciales. Después desaparece esa opción y el registro normal crea únicamente clientes. No entregamos una contraseña predeterminada. Para esta demostración, ambos roles utilizan la misma base de datos dentro del mismo dispositivo.</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Registro e inicio de sesión</a:t>
            </a:r>
          </a:p>
          <a:p xmlns:a="http://schemas.openxmlformats.org/drawingml/2006/main">
            <a:r>
              <a:t/>
            </a:r>
          </a:p>
          <a:p xmlns:a="http://schemas.openxmlformats.org/drawingml/2006/main">
            <a:r>
              <a:t>**Juan. Aproximadamente 55 segundos.**</a:t>
            </a:r>
          </a:p>
          <a:p xmlns:a="http://schemas.openxmlformats.org/drawingml/2006/main">
            <a:r>
              <a:t/>
            </a:r>
          </a:p>
          <a:p xmlns:a="http://schemas.openxmlformats.org/drawingml/2006/main">
            <a:r>
              <a:t>El registro solicita usuario, nombre, apellidos, edad, dirección, teléfono y contraseña con su confirmación. Agregamos el nombre de usuario porque es el dato que necesitamos para iniciar sesión. La aplicación rechaza los campos obligatorios vacíos, los usuarios repetidos y las contraseñas que no coinciden. La edad debe estar entre dieciocho y ciento veinte años. Cuando los datos son válidos, el formulario guarda la cuenta y regresa al acceso. Si cancelamos, no guarda el registro. Al iniciar sesión, la aplicación comprueba las credenciales y muestra un mensaje de error si son incorrectas. Los formularios permiten desplazarse cuando aparece el teclado.</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CRUD de paquetes</a:t>
            </a:r>
          </a:p>
          <a:p xmlns:a="http://schemas.openxmlformats.org/drawingml/2006/main">
            <a:r>
              <a:t/>
            </a:r>
          </a:p>
          <a:p xmlns:a="http://schemas.openxmlformats.org/drawingml/2006/main">
            <a:r>
              <a:t>**Humberto. Aproximadamente 50 segundos.**</a:t>
            </a:r>
          </a:p>
          <a:p xmlns:a="http://schemas.openxmlformats.org/drawingml/2006/main">
            <a:r>
              <a:t/>
            </a:r>
          </a:p>
          <a:p xmlns:a="http://schemas.openxmlformats.org/drawingml/2006/main">
            <a:r>
              <a:t>El módulo administrativo implementa las cuatro operaciones del CRUD. Create corresponde a crear un paquete con un código único y un cliente destinatario. Read permite consultar y filtrar los paquetes guardados. Update permite corregir su información, cambiar el estado o modificar el destinatario. Delete retira un paquete después de pedir confirmación. En este último caso utilizamos una baja lógica: el registro permanece en la base, pero deja de aparecer en las consultas. Además, reservamos su código para no reutilizarlo. Si el administrador cancela el diálogo de eliminación, el paquete continúa disponible. Todo este proceso funciona desde las pantallas de la aplicación.</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Asignación y reasignación</a:t>
            </a:r>
          </a:p>
          <a:p xmlns:a="http://schemas.openxmlformats.org/drawingml/2006/main">
            <a:r>
              <a:t/>
            </a:r>
          </a:p>
          <a:p xmlns:a="http://schemas.openxmlformats.org/drawingml/2006/main">
            <a:r>
              <a:t>**Humberto. Aproximadamente 40 segundos.**</a:t>
            </a:r>
          </a:p>
          <a:p xmlns:a="http://schemas.openxmlformats.org/drawingml/2006/main">
            <a:r>
              <a:t/>
            </a:r>
          </a:p>
          <a:p xmlns:a="http://schemas.openxmlformats.org/drawingml/2006/main">
            <a:r>
              <a:t>Cada paquete pertenece a un cliente registrado. El administrador lo selecciona de una lista, y la aplicación no permite guardar un envío sin destinatario ni asignarlo a una cuenta administradora. Guardamos la relación mediante el identificador interno del cliente. Por eso, si cambia su nombre de usuario, no pierde sus paquetes. También podemos reasignar un envío. En ese momento, el destinatario anterior deja de encontrarlo y el nuevo obtiene acceso. Este control relaciona la gestión administrativa con la consulta que utiliza el cliente. Juan mostrará qué ocurre al buscar el código.</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Consulta del cliente</a:t>
            </a:r>
          </a:p>
          <a:p xmlns:a="http://schemas.openxmlformats.org/drawingml/2006/main">
            <a:r>
              <a:t/>
            </a:r>
          </a:p>
          <a:p xmlns:a="http://schemas.openxmlformats.org/drawingml/2006/main">
            <a:r>
              <a:t>**Juan. Aproximadamente 50 segundos.**</a:t>
            </a:r>
          </a:p>
          <a:p xmlns:a="http://schemas.openxmlformats.org/drawingml/2006/main">
            <a:r>
              <a:t/>
            </a:r>
          </a:p>
          <a:p xmlns:a="http://schemas.openxmlformats.org/drawingml/2006/main">
            <a:r>
              <a:t>El cliente introduce el código de rastreo y pulsa Buscar paquete. La aplicación comprueba que el envío exista, permanezca activo y pertenezca a esa cuenta. Cuando cumple las tres condiciones, muestra la descripción, el destinatario, el estado, el origen, el destino, la entrega estimada, las notas y las fechas de registro y actualización. Si el código no existe, corresponde a otra persona o el paquete fue eliminado, el mensaje es el mismo: Ese paquete no existe. Así evitamos revelar información de otros clientes. La pantalla de detalle vuelve a verificar la relación con la cuenta antes de mostrar los datos.</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Edición del perfil</a:t>
            </a:r>
          </a:p>
          <a:p xmlns:a="http://schemas.openxmlformats.org/drawingml/2006/main">
            <a:r>
              <a:t/>
            </a:r>
          </a:p>
          <a:p xmlns:a="http://schemas.openxmlformats.org/drawingml/2006/main">
            <a:r>
              <a:t>**Juan. Aproximadamente 45 segundos.**</a:t>
            </a:r>
          </a:p>
          <a:p xmlns:a="http://schemas.openxmlformats.org/drawingml/2006/main">
            <a:r>
              <a:t/>
            </a:r>
          </a:p>
          <a:p xmlns:a="http://schemas.openxmlformats.org/drawingml/2006/main">
            <a:r>
              <a:t>Desde Mi perfil, el cliente puede modificar su usuario y sus datos personales. Para guardar necesita confirmar su contraseña actual. También puede elegir una nueva contraseña, pero ese cambio es opcional: si deja los dos campos nuevos vacíos, conserva la anterior. Al guardar, la cuenta mantiene su identificador y sus paquetes, aunque cambie el nombre de usuario. La aplicación utiliza las nuevas credenciales en el siguiente acceso. Es importante distinguir la dirección del perfil del destino de un envío ya creado. Cambiar el perfil no modifica automáticamente ese destino. Si hace falta corregirlo, debe hacerlo el administrador en el paquete.</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Herramientas y base de datos</a:t>
            </a:r>
          </a:p>
          <a:p xmlns:a="http://schemas.openxmlformats.org/drawingml/2006/main">
            <a:r>
              <a:t/>
            </a:r>
          </a:p>
          <a:p xmlns:a="http://schemas.openxmlformats.org/drawingml/2006/main">
            <a:r>
              <a:t>**Humberto. Aproximadamente 55 segundos.**</a:t>
            </a:r>
          </a:p>
          <a:p xmlns:a="http://schemas.openxmlformats.org/drawingml/2006/main">
            <a:r>
              <a:t/>
            </a:r>
          </a:p>
          <a:p xmlns:a="http://schemas.openxmlformats.org/drawingml/2006/main">
            <a:r>
              <a:t>Desarrollamos la lógica en Kotlin dentro de Android Studio. Las interfaces usan XML y componentes Material. View Binding nos permite acceder a las vistas desde el código con referencias tipadas. Para almacenar la información utilizamos Room sobre SQLite, con dos tablas principales: usuarios y paquetes. Un cliente puede tener varios paquetes, y cada paquete tiene un destinatario. Los repositorios concentran las operaciones y las comprobaciones de permisos. Las corrutinas permiten ejecutar el trabajo de datos y las comprobaciones de contraseña sin bloquear la interfaz. También incorporamos una migración de la base para añadir los nuevos roles y paquetes conservando las cuentas de la primera versión.</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Seguridad y pruebas</a:t>
            </a:r>
          </a:p>
          <a:p xmlns:a="http://schemas.openxmlformats.org/drawingml/2006/main">
            <a:r>
              <a:t/>
            </a:r>
          </a:p>
          <a:p xmlns:a="http://schemas.openxmlformats.org/drawingml/2006/main">
            <a:r>
              <a:t>**Humberto. Aproximadamente 50 segundos.**</a:t>
            </a:r>
          </a:p>
          <a:p xmlns:a="http://schemas.openxmlformats.org/drawingml/2006/main">
            <a:r>
              <a:t/>
            </a:r>
          </a:p>
          <a:p xmlns:a="http://schemas.openxmlformats.org/drawingml/2006/main">
            <a:r>
              <a:t>La aplicación no guarda las contraseñas en texto plano. Conserva un hash y un salt aleatorio por cuenta, y verifica los permisos tanto en las pantallas como en los repositorios. Al cerrar sesión elimina la sesión activa, pero mantiene los registros de la base. En la verificación del veinticinco de septiembre, pasaron dieciocho pruebas locales y nueve pruebas instrumentadas en el emulador, sin fallos. Revisamos validaciones, persistencia, migración, permisos y el recorrido completo de las pantallas. Estos resultados corresponden al emulador probado, no a todos los teléfonos Android. La revisión estática también conserva advertencias que documentamos en el README.</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Alcance actual y evolución</a:t>
            </a:r>
          </a:p>
          <a:p xmlns:a="http://schemas.openxmlformats.org/drawingml/2006/main">
            <a:r>
              <a:t/>
            </a:r>
          </a:p>
          <a:p xmlns:a="http://schemas.openxmlformats.org/drawingml/2006/main">
            <a:r>
              <a:t>**Juan. Aproximadamente 45 segundos.**</a:t>
            </a:r>
          </a:p>
          <a:p xmlns:a="http://schemas.openxmlformats.org/drawingml/2006/main">
            <a:r>
              <a:t/>
            </a:r>
          </a:p>
          <a:p xmlns:a="http://schemas.openxmlformats.org/drawingml/2006/main">
            <a:r>
              <a:t>La versión actual completa el flujo local de administrador y cliente. Las cuentas y los paquetes permanecen en el mismo dispositivo al cerrar la aplicación. El administrador actualiza manualmente el estado, por lo que no mostramos una ubicación real del transporte. Para utilizarla entre teléfonos distintos, el siguiente paso sería desarrollar una API, una base central y autenticación en servidor. Después podríamos evaluar notificaciones e integración con transportistas. Esas funciones todavía no forman parte de esta entrega. Nuestra propuesta comercial apunta a pequeños negocios de reparto, pero primero sería necesario validar sus necesidades y el uso real del sistema.</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Demostración de funcionamiento</a:t>
            </a:r>
          </a:p>
          <a:p xmlns:a="http://schemas.openxmlformats.org/drawingml/2006/main">
            <a:r>
              <a:t/>
            </a:r>
          </a:p>
          <a:p xmlns:a="http://schemas.openxmlformats.org/drawingml/2006/main">
            <a:r>
              <a:t>**Humberto y Juan. Aproximadamente 25 segundos.**</a:t>
            </a:r>
          </a:p>
          <a:p xmlns:a="http://schemas.openxmlformats.org/drawingml/2006/main">
            <a:r>
              <a:t/>
            </a:r>
          </a:p>
          <a:p xmlns:a="http://schemas.openxmlformats.org/drawingml/2006/main">
            <a:r>
              <a:t>**Humberto:** Ahora queremos presentarles una muestra del funcionamiento de nuestra aplicación. En el video veremos cómo registramos clientes, creamos un paquete y lo consultamos desde la cuenta correspondiente.</a:t>
            </a:r>
          </a:p>
          <a:p xmlns:a="http://schemas.openxmlformats.org/drawingml/2006/main">
            <a:r>
              <a:t/>
            </a:r>
          </a:p>
          <a:p xmlns:a="http://schemas.openxmlformats.org/drawingml/2006/main">
            <a:r>
              <a:t>**Juan:** También mostraremos la edición del perfil, la reasignación y la eliminación. El video no tiene audio y nos sirve como respaldo para presentar el funcionamiento aunque tengamos un problema con el emulador durante la exposición.</a:t>
            </a:r>
          </a:p>
          <a:p xmlns:a="http://schemas.openxmlformats.org/drawingml/2006/main">
            <a:r>
              <a:t/>
            </a:r>
          </a:p>
          <a:p xmlns:a="http://schemas.openxmlformats.org/drawingml/2006/main">
            <a:r>
              <a:t>**Acción:** dejar de avanzar las diapositivas y reproducir el video local. No hace falta grabar estas frases dentro del video.</a:t>
            </a:r>
          </a:p>
          <a:p xmlns:a="http://schemas.openxmlformats.org/drawingml/2006/main">
            <a:r>
              <a:t/>
            </a:r>
          </a:p>
          <a:p xmlns:a="http://schemas.openxmlformats.org/drawingml/2006/main">
            <a:r>
              <a:t>### Después del video</a:t>
            </a:r>
          </a:p>
          <a:p xmlns:a="http://schemas.openxmlformats.org/drawingml/2006/main">
            <a:r>
              <a:t/>
            </a:r>
          </a:p>
          <a:p xmlns:a="http://schemas.openxmlformats.org/drawingml/2006/main">
            <a:r>
              <a:t>**Juan:** Con esta demostración concluimos el recorrido de RutaPaquete. Gracias por su atención.</a:t>
            </a:r>
          </a:p>
          <a:p xmlns:a="http://schemas.openxmlformats.org/drawingml/2006/main">
            <a:r>
              <a:t/>
            </a:r>
          </a:p>
          <a:p xmlns:a="http://schemas.openxmlformats.org/drawingml/2006/main">
            <a:r>
              <a:t>**Humberto:** Quedamos atentos a sus preguntas.</a:t>
            </a:r>
          </a:p>
          <a:p xmlns:a="http://schemas.openxmlformats.org/drawingml/2006/main">
            <a:r>
              <a:t/>
            </a:r>
          </a:p>
          <a:p xmlns:a="http://schemas.openxmlformats.org/drawingml/2006/main">
            <a:r>
              <a:t>Fuente de contenido: README.md de RutaPaquete 2.0, secciones 1 a 3. Resultados de pruebas del 25 de septiembre de 2026. Las capturas corresponden al emulador del proyecto y utilizan datos ficticios.</a:t>
            </a:r>
          </a:p>
          <a:p xmlns:a="http://schemas.openxmlformats.org/drawingml/2006/main">
            <a:r>
              <a:t>Presenta: Juan y Humberto.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ebf6b1382a42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4376065c254f15" /><Relationship Type="http://schemas.openxmlformats.org/officeDocument/2006/relationships/slideLayout" Target="/ppt/slideLayouts/slideLayout1.xml" Id="R2f732084619d46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732084619d46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569b43a2a44dce" /><Relationship Type="http://schemas.openxmlformats.org/officeDocument/2006/relationships/notesSlide" Target="/ppt/notesSlides/notesSlide1.xml" Id="R612ba27dd7de47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b43f74184f4ecd" /><Relationship Type="http://schemas.openxmlformats.org/officeDocument/2006/relationships/notesSlide" Target="/ppt/notesSlides/notesSlide2.xml" Id="R18606f51662449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b9d5b385ad47da" /><Relationship Type="http://schemas.openxmlformats.org/officeDocument/2006/relationships/notesSlide" Target="/ppt/notesSlides/notesSlide3.xml" Id="Rcf33282a1aad4b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354e3e1a504352" /><Relationship Type="http://schemas.openxmlformats.org/officeDocument/2006/relationships/image" Target="/ppt/media/image.png" Id="R243cf84cab674fa5" /><Relationship Type="http://schemas.openxmlformats.org/officeDocument/2006/relationships/notesSlide" Target="/ppt/notesSlides/notesSlide4.xml" Id="R23de2b9f016940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64d3abd711415c" /><Relationship Type="http://schemas.openxmlformats.org/officeDocument/2006/relationships/image" Target="/ppt/media/image2.png" Id="R4fa09f9292d64d02" /><Relationship Type="http://schemas.openxmlformats.org/officeDocument/2006/relationships/notesSlide" Target="/ppt/notesSlides/notesSlide5.xml" Id="Rcbdf4de970f745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83e14447c64365" /><Relationship Type="http://schemas.openxmlformats.org/officeDocument/2006/relationships/image" Target="/ppt/media/image3.png" Id="R8a2d2e6cd5b14e0b" /><Relationship Type="http://schemas.openxmlformats.org/officeDocument/2006/relationships/notesSlide" Target="/ppt/notesSlides/notesSlide6.xml" Id="R15db4fb51c2149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71431533ac4d5c" /><Relationship Type="http://schemas.openxmlformats.org/officeDocument/2006/relationships/image" Target="/ppt/media/image4.png" Id="Rea225284977e4f66" /><Relationship Type="http://schemas.openxmlformats.org/officeDocument/2006/relationships/image" Target="/ppt/media/image5.png" Id="R8ce9880ef01543ba" /><Relationship Type="http://schemas.openxmlformats.org/officeDocument/2006/relationships/notesSlide" Target="/ppt/notesSlides/notesSlide7.xml" Id="Rccceb59d3fca4d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c04fc353144b38" /><Relationship Type="http://schemas.openxmlformats.org/officeDocument/2006/relationships/image" Target="/ppt/media/image6.png" Id="R76222efb6e554463" /><Relationship Type="http://schemas.openxmlformats.org/officeDocument/2006/relationships/notesSlide" Target="/ppt/notesSlides/notesSlide8.xml" Id="R176be2d8bcdf46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af2b8d966c4923" /><Relationship Type="http://schemas.openxmlformats.org/officeDocument/2006/relationships/notesSlide" Target="/ppt/notesSlides/notesSlide9.xml" Id="R6e514ecd60b34b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95efe844b6494c" /><Relationship Type="http://schemas.openxmlformats.org/officeDocument/2006/relationships/notesSlide" Target="/ppt/notesSlides/notesSlide10.xml" Id="Rac0eabc9eda748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1b12160d0442e6" /><Relationship Type="http://schemas.openxmlformats.org/officeDocument/2006/relationships/notesSlide" Target="/ppt/notesSlides/notesSlide11.xml" Id="R968e04ad0fd142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9ce00675a547a7" /><Relationship Type="http://schemas.openxmlformats.org/officeDocument/2006/relationships/notesSlide" Target="/ppt/notesSlides/notesSlide12.xml" Id="Rf7647428cc3740c5" /></Relationships>
</file>

<file path=ppt/slides/slide1.xml><?xml version="1.0" encoding="utf-8"?>
<p:sld xmlns:p="http://schemas.openxmlformats.org/presentationml/2006/main">
  <p:cSld>
    <p:bg>
      <p:bgPr>
        <a:solidFill xmlns:a="http://schemas.openxmlformats.org/drawingml/2006/main">
          <a:srgbClr val="173C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3041D-0FC9-47AF-BB47-711C49D59747}"/>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7E2DA"/>
                </a:solidFill>
                <a:latin typeface="Arial"/>
                <a:ea typeface="Arial"/>
                <a:cs typeface="Arial"/>
              </a:defRPr>
            </a:pPr>
            <a:r>
              <a:rPr sz="1350" b="0">
                <a:solidFill>
                  <a:srgbClr val="C7E2DA"/>
                </a:solidFill>
                <a:latin typeface="Arial"/>
                <a:ea typeface="Arial"/>
                <a:cs typeface="Arial"/>
              </a:rPr>
              <a:t>01  /  12</a:t>
            </a:r>
          </a:p>
        </p:txBody>
      </p:sp>
      <p:sp>
        <p:nvSpPr>
          <p:cNvPr id="2" name="">
            <a:extLst xmlns:a="http://schemas.openxmlformats.org/drawingml/2006/main">
              <a:ext uri="{FF2B5EF4-FFF2-40B4-BE49-F238E27FC236}">
                <a16:creationId xmlns:a16="http://schemas.microsoft.com/office/drawing/2014/main" id="{E628088F-B121-4DDE-AFE9-24F6F2C4FD50}"/>
              </a:ext>
            </a:extLst>
          </p:cNvPr>
          <p:cNvSpPr>
            <a:spLocks xmlns:a="http://schemas.openxmlformats.org/drawingml/2006/main" noGrp="1"/>
          </p:cNvSpPr>
          <p:nvPr/>
        </p:nvSpPr>
        <p:spPr>
          <a:xfrm xmlns:a="http://schemas.openxmlformats.org/drawingml/2006/main">
            <a:off x="609600" y="17145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RutaPaquete</a:t>
            </a:r>
          </a:p>
        </p:txBody>
      </p:sp>
      <p:sp>
        <p:nvSpPr>
          <p:cNvPr id="3" name="">
            <a:extLst xmlns:a="http://schemas.openxmlformats.org/drawingml/2006/main">
              <a:ext uri="{FF2B5EF4-FFF2-40B4-BE49-F238E27FC236}">
                <a16:creationId xmlns:a16="http://schemas.microsoft.com/office/drawing/2014/main" id="{1A7A6E09-431F-4CDB-A5C9-2B2D85D2AD34}"/>
              </a:ext>
            </a:extLst>
          </p:cNvPr>
          <p:cNvSpPr>
            <a:spLocks xmlns:a="http://schemas.openxmlformats.org/drawingml/2006/main" noGrp="1"/>
          </p:cNvSpPr>
          <p:nvPr/>
        </p:nvSpPr>
        <p:spPr>
          <a:xfrm xmlns:a="http://schemas.openxmlformats.org/drawingml/2006/main">
            <a:off x="647700" y="3143250"/>
            <a:ext cx="981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C7E2DA"/>
                </a:solidFill>
                <a:latin typeface="Arial"/>
                <a:ea typeface="Arial"/>
                <a:cs typeface="Arial"/>
              </a:defRPr>
            </a:pPr>
            <a:r>
              <a:rPr sz="3150" b="0">
                <a:solidFill>
                  <a:srgbClr val="C7E2DA"/>
                </a:solidFill>
                <a:latin typeface="Arial"/>
                <a:ea typeface="Arial"/>
                <a:cs typeface="Arial"/>
              </a:rPr>
              <a:t>Gestión y consulta de envíos</a:t>
            </a:r>
          </a:p>
          <a:p xmlns:a="http://schemas.openxmlformats.org/drawingml/2006/main">
            <a:pPr>
              <a:defRPr sz="3150" b="0">
                <a:solidFill>
                  <a:srgbClr val="C7E2DA"/>
                </a:solidFill>
                <a:latin typeface="Arial"/>
                <a:ea typeface="Arial"/>
                <a:cs typeface="Arial"/>
              </a:defRPr>
            </a:pPr>
            <a:r>
              <a:rPr sz="3150" b="0">
                <a:solidFill>
                  <a:srgbClr val="C7E2DA"/>
                </a:solidFill>
                <a:latin typeface="Arial"/>
                <a:ea typeface="Arial"/>
                <a:cs typeface="Arial"/>
              </a:rPr>
              <a:t>en Android</a:t>
            </a:r>
          </a:p>
        </p:txBody>
      </p:sp>
      <p:sp>
        <p:nvSpPr>
          <p:cNvPr id="4" name="">
            <a:extLst xmlns:a="http://schemas.openxmlformats.org/drawingml/2006/main">
              <a:ext uri="{FF2B5EF4-FFF2-40B4-BE49-F238E27FC236}">
                <a16:creationId xmlns:a16="http://schemas.microsoft.com/office/drawing/2014/main" id="{FD5CFED0-26DD-4454-8BE9-B0609BB423AE}"/>
              </a:ext>
            </a:extLst>
          </p:cNvPr>
          <p:cNvSpPr>
            <a:spLocks xmlns:a="http://schemas.openxmlformats.org/drawingml/2006/main" noGrp="1"/>
          </p:cNvSpPr>
          <p:nvPr/>
        </p:nvSpPr>
        <p:spPr>
          <a:xfrm xmlns:a="http://schemas.openxmlformats.org/drawingml/2006/main">
            <a:off x="647700" y="52197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Juan y Humberto</a:t>
            </a:r>
          </a:p>
        </p:txBody>
      </p:sp>
      <p:sp>
        <p:nvSpPr>
          <p:cNvPr id="5" name="">
            <a:extLst xmlns:a="http://schemas.openxmlformats.org/drawingml/2006/main">
              <a:ext uri="{FF2B5EF4-FFF2-40B4-BE49-F238E27FC236}">
                <a16:creationId xmlns:a16="http://schemas.microsoft.com/office/drawing/2014/main" id="{6C495255-453A-4BE2-867F-00C3E583E163}"/>
              </a:ext>
            </a:extLst>
          </p:cNvPr>
          <p:cNvSpPr>
            <a:spLocks xmlns:a="http://schemas.openxmlformats.org/drawingml/2006/main" noGrp="1"/>
          </p:cNvSpPr>
          <p:nvPr/>
        </p:nvSpPr>
        <p:spPr>
          <a:xfrm xmlns:a="http://schemas.openxmlformats.org/drawingml/2006/main">
            <a:off x="647700" y="57531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7E2DA"/>
                </a:solidFill>
                <a:latin typeface="Arial"/>
                <a:ea typeface="Arial"/>
                <a:cs typeface="Arial"/>
              </a:defRPr>
            </a:pPr>
            <a:r>
              <a:rPr sz="1800" b="0">
                <a:solidFill>
                  <a:srgbClr val="C7E2DA"/>
                </a:solidFill>
                <a:latin typeface="Arial"/>
                <a:ea typeface="Arial"/>
                <a:cs typeface="Arial"/>
              </a:rPr>
              <a:t>Proyecto académico en Kotlin</a:t>
            </a:r>
          </a:p>
        </p:txBody>
      </p:sp>
    </p:spTree>
    <p:extLst>
      <p:ext uri="{BB962C8B-B14F-4D97-AF65-F5344CB8AC3E}">
        <p14:creationId xmlns:p14="http://schemas.microsoft.com/office/powerpoint/2010/main" val="706881254"/>
      </p:ext>
    </p:extLst>
  </p:cSld>
</p:sld>
</file>

<file path=ppt/slides/slide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435372-8F58-44E1-A684-A698DB7CCCFF}"/>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El problema y la propuesta</a:t>
            </a:r>
          </a:p>
        </p:txBody>
      </p:sp>
      <p:sp>
        <p:nvSpPr>
          <p:cNvPr id="2" name="">
            <a:extLst xmlns:a="http://schemas.openxmlformats.org/drawingml/2006/main">
              <a:ext uri="{FF2B5EF4-FFF2-40B4-BE49-F238E27FC236}">
                <a16:creationId xmlns:a16="http://schemas.microsoft.com/office/drawing/2014/main" id="{11596B67-EFA3-4152-9221-AE8B173E6D12}"/>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02  /  12</a:t>
            </a:r>
          </a:p>
        </p:txBody>
      </p:sp>
      <p:sp>
        <p:nvSpPr>
          <p:cNvPr id="3" name="">
            <a:extLst xmlns:a="http://schemas.openxmlformats.org/drawingml/2006/main">
              <a:ext uri="{FF2B5EF4-FFF2-40B4-BE49-F238E27FC236}">
                <a16:creationId xmlns:a16="http://schemas.microsoft.com/office/drawing/2014/main" id="{B1879DEF-260A-4BB7-A611-12929FB201E8}"/>
              </a:ext>
            </a:extLst>
          </p:cNvPr>
          <p:cNvSpPr>
            <a:spLocks xmlns:a="http://schemas.openxmlformats.org/drawingml/2006/main" noGrp="1"/>
          </p:cNvSpPr>
          <p:nvPr/>
        </p:nvSpPr>
        <p:spPr>
          <a:xfrm xmlns:a="http://schemas.openxmlformats.org/drawingml/2006/main">
            <a:off x="609600" y="1762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55E66"/>
                </a:solidFill>
                <a:latin typeface="Arial"/>
                <a:ea typeface="Arial"/>
                <a:cs typeface="Arial"/>
              </a:defRPr>
            </a:pPr>
            <a:r>
              <a:rPr sz="2850" b="1">
                <a:solidFill>
                  <a:srgbClr val="155E66"/>
                </a:solidFill>
                <a:latin typeface="Arial"/>
                <a:ea typeface="Arial"/>
                <a:cs typeface="Arial"/>
              </a:rPr>
              <a:t>Información dispersa</a:t>
            </a:r>
          </a:p>
        </p:txBody>
      </p:sp>
      <p:sp>
        <p:nvSpPr>
          <p:cNvPr id="4" name="">
            <a:extLst xmlns:a="http://schemas.openxmlformats.org/drawingml/2006/main">
              <a:ext uri="{FF2B5EF4-FFF2-40B4-BE49-F238E27FC236}">
                <a16:creationId xmlns:a16="http://schemas.microsoft.com/office/drawing/2014/main" id="{7A40268F-3B42-47C3-A911-1991C409A397}"/>
              </a:ext>
            </a:extLst>
          </p:cNvPr>
          <p:cNvSpPr>
            <a:spLocks xmlns:a="http://schemas.openxmlformats.org/drawingml/2006/main" noGrp="1"/>
          </p:cNvSpPr>
          <p:nvPr/>
        </p:nvSpPr>
        <p:spPr>
          <a:xfrm xmlns:a="http://schemas.openxmlformats.org/drawingml/2006/main">
            <a:off x="609600" y="2600325"/>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73C40"/>
                </a:solidFill>
                <a:latin typeface="Arial"/>
                <a:ea typeface="Arial"/>
                <a:cs typeface="Arial"/>
              </a:defRPr>
            </a:pPr>
            <a:r>
              <a:rPr sz="2625" b="0">
                <a:solidFill>
                  <a:srgbClr val="173C40"/>
                </a:solidFill>
                <a:latin typeface="Arial"/>
                <a:ea typeface="Arial"/>
                <a:cs typeface="Arial"/>
              </a:rPr>
              <a:t>Pedidos en mensajes, hojas de cálculo y anotaciones.</a:t>
            </a:r>
          </a:p>
        </p:txBody>
      </p:sp>
      <p:sp>
        <p:nvSpPr>
          <p:cNvPr id="5" name="">
            <a:extLst xmlns:a="http://schemas.openxmlformats.org/drawingml/2006/main">
              <a:ext uri="{FF2B5EF4-FFF2-40B4-BE49-F238E27FC236}">
                <a16:creationId xmlns:a16="http://schemas.microsoft.com/office/drawing/2014/main" id="{A1F478BE-721B-4B39-B654-3EE25B6B40CD}"/>
              </a:ext>
            </a:extLst>
          </p:cNvPr>
          <p:cNvSpPr>
            <a:spLocks xmlns:a="http://schemas.openxmlformats.org/drawingml/2006/main" noGrp="1"/>
          </p:cNvSpPr>
          <p:nvPr/>
        </p:nvSpPr>
        <p:spPr>
          <a:xfrm xmlns:a="http://schemas.openxmlformats.org/drawingml/2006/main">
            <a:off x="6496050" y="1762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55E66"/>
                </a:solidFill>
                <a:latin typeface="Arial"/>
                <a:ea typeface="Arial"/>
                <a:cs typeface="Arial"/>
              </a:defRPr>
            </a:pPr>
            <a:r>
              <a:rPr sz="2850" b="1">
                <a:solidFill>
                  <a:srgbClr val="155E66"/>
                </a:solidFill>
                <a:latin typeface="Arial"/>
                <a:ea typeface="Arial"/>
                <a:cs typeface="Arial"/>
              </a:rPr>
              <a:t>RutaPaquete</a:t>
            </a:r>
          </a:p>
        </p:txBody>
      </p:sp>
      <p:sp>
        <p:nvSpPr>
          <p:cNvPr id="6" name="">
            <a:extLst xmlns:a="http://schemas.openxmlformats.org/drawingml/2006/main">
              <a:ext uri="{FF2B5EF4-FFF2-40B4-BE49-F238E27FC236}">
                <a16:creationId xmlns:a16="http://schemas.microsoft.com/office/drawing/2014/main" id="{B7D891A7-BB37-44EE-B758-8E058C2166B6}"/>
              </a:ext>
            </a:extLst>
          </p:cNvPr>
          <p:cNvSpPr>
            <a:spLocks xmlns:a="http://schemas.openxmlformats.org/drawingml/2006/main" noGrp="1"/>
          </p:cNvSpPr>
          <p:nvPr/>
        </p:nvSpPr>
        <p:spPr>
          <a:xfrm xmlns:a="http://schemas.openxmlformats.org/drawingml/2006/main">
            <a:off x="6496050" y="2600325"/>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73C40"/>
                </a:solidFill>
                <a:latin typeface="Arial"/>
                <a:ea typeface="Arial"/>
                <a:cs typeface="Arial"/>
              </a:defRPr>
            </a:pPr>
            <a:r>
              <a:rPr sz="2625" b="0">
                <a:solidFill>
                  <a:srgbClr val="173C40"/>
                </a:solidFill>
                <a:latin typeface="Arial"/>
                <a:ea typeface="Arial"/>
                <a:cs typeface="Arial"/>
              </a:rPr>
              <a:t>Un registro de envíos</a:t>
            </a:r>
          </a:p>
          <a:p xmlns:a="http://schemas.openxmlformats.org/drawingml/2006/main">
            <a:pPr>
              <a:defRPr sz="2625" b="0">
                <a:solidFill>
                  <a:srgbClr val="173C40"/>
                </a:solidFill>
                <a:latin typeface="Arial"/>
                <a:ea typeface="Arial"/>
                <a:cs typeface="Arial"/>
              </a:defRPr>
            </a:pPr>
            <a:r>
              <a:rPr sz="2625" b="0">
                <a:solidFill>
                  <a:srgbClr val="173C40"/>
                </a:solidFill>
                <a:latin typeface="Arial"/>
                <a:ea typeface="Arial"/>
                <a:cs typeface="Arial"/>
              </a:rPr>
              <a:t>vinculado con cada cliente.</a:t>
            </a:r>
          </a:p>
        </p:txBody>
      </p:sp>
      <p:sp>
        <p:nvSpPr>
          <p:cNvPr id="7" name="">
            <a:extLst xmlns:a="http://schemas.openxmlformats.org/drawingml/2006/main">
              <a:ext uri="{FF2B5EF4-FFF2-40B4-BE49-F238E27FC236}">
                <a16:creationId xmlns:a16="http://schemas.microsoft.com/office/drawing/2014/main" id="{AD6CC2AB-3D24-43FD-9965-B8361D02719F}"/>
              </a:ext>
            </a:extLst>
          </p:cNvPr>
          <p:cNvSpPr>
            <a:spLocks xmlns:a="http://schemas.openxmlformats.org/drawingml/2006/main" noGrp="1"/>
          </p:cNvSpPr>
          <p:nvPr/>
        </p:nvSpPr>
        <p:spPr>
          <a:xfrm xmlns:a="http://schemas.openxmlformats.org/drawingml/2006/main">
            <a:off x="609600" y="47434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3C40"/>
                </a:solidFill>
                <a:latin typeface="Arial"/>
                <a:ea typeface="Arial"/>
                <a:cs typeface="Arial"/>
              </a:defRPr>
            </a:pPr>
            <a:r>
              <a:rPr sz="2325" b="1">
                <a:solidFill>
                  <a:srgbClr val="173C40"/>
                </a:solidFill>
                <a:latin typeface="Arial"/>
                <a:ea typeface="Arial"/>
                <a:cs typeface="Arial"/>
              </a:rPr>
              <a:t>Pensado para pequeños negocios de reparto.</a:t>
            </a:r>
          </a:p>
        </p:txBody>
      </p:sp>
      <p:sp>
        <p:nvSpPr>
          <p:cNvPr id="8" name="">
            <a:extLst xmlns:a="http://schemas.openxmlformats.org/drawingml/2006/main">
              <a:ext uri="{FF2B5EF4-FFF2-40B4-BE49-F238E27FC236}">
                <a16:creationId xmlns:a16="http://schemas.microsoft.com/office/drawing/2014/main" id="{5502B731-F744-4B33-87A9-232E3D237BD3}"/>
              </a:ext>
            </a:extLst>
          </p:cNvPr>
          <p:cNvSpPr>
            <a:spLocks xmlns:a="http://schemas.openxmlformats.org/drawingml/2006/main" noGrp="1"/>
          </p:cNvSpPr>
          <p:nvPr/>
        </p:nvSpPr>
        <p:spPr>
          <a:xfrm xmlns:a="http://schemas.openxmlformats.org/drawingml/2006/main">
            <a:off x="609600" y="5600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0676B"/>
                </a:solidFill>
                <a:latin typeface="Arial"/>
                <a:ea typeface="Arial"/>
                <a:cs typeface="Arial"/>
              </a:defRPr>
            </a:pPr>
            <a:r>
              <a:rPr sz="1875" b="0">
                <a:solidFill>
                  <a:srgbClr val="50676B"/>
                </a:solidFill>
                <a:latin typeface="Arial"/>
                <a:ea typeface="Arial"/>
                <a:cs typeface="Arial"/>
              </a:rPr>
              <a:t>Prototipo local. Los beneficios comerciales aún requieren validación.</a:t>
            </a:r>
          </a:p>
        </p:txBody>
      </p:sp>
    </p:spTree>
    <p:extLst>
      <p:ext uri="{BB962C8B-B14F-4D97-AF65-F5344CB8AC3E}">
        <p14:creationId xmlns:p14="http://schemas.microsoft.com/office/powerpoint/2010/main" val="2023659454"/>
      </p:ext>
    </p:extLst>
  </p:cSld>
</p:sld>
</file>

<file path=ppt/slides/slide3.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04A99D-F547-44D3-AFF3-107ECC2EFA5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Administrador y cliente</a:t>
            </a:r>
          </a:p>
        </p:txBody>
      </p:sp>
      <p:sp>
        <p:nvSpPr>
          <p:cNvPr id="2" name="">
            <a:extLst xmlns:a="http://schemas.openxmlformats.org/drawingml/2006/main">
              <a:ext uri="{FF2B5EF4-FFF2-40B4-BE49-F238E27FC236}">
                <a16:creationId xmlns:a16="http://schemas.microsoft.com/office/drawing/2014/main" id="{CDDAA411-3243-44E2-846A-FB8B0869E585}"/>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03  /  12</a:t>
            </a:r>
          </a:p>
        </p:txBody>
      </p:sp>
      <p:sp>
        <p:nvSpPr>
          <p:cNvPr id="3" name="">
            <a:extLst xmlns:a="http://schemas.openxmlformats.org/drawingml/2006/main">
              <a:ext uri="{FF2B5EF4-FFF2-40B4-BE49-F238E27FC236}">
                <a16:creationId xmlns:a16="http://schemas.microsoft.com/office/drawing/2014/main" id="{F6B44FB7-622F-433C-87E5-3A5EE865E46B}"/>
              </a:ext>
            </a:extLst>
          </p:cNvPr>
          <p:cNvSpPr>
            <a:spLocks xmlns:a="http://schemas.openxmlformats.org/drawingml/2006/main" noGrp="1"/>
          </p:cNvSpPr>
          <p:nvPr/>
        </p:nvSpPr>
        <p:spPr>
          <a:xfrm xmlns:a="http://schemas.openxmlformats.org/drawingml/2006/main">
            <a:off x="609600" y="17716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55E66"/>
                </a:solidFill>
                <a:latin typeface="Arial"/>
                <a:ea typeface="Arial"/>
                <a:cs typeface="Arial"/>
              </a:defRPr>
            </a:pPr>
            <a:r>
              <a:rPr sz="3000" b="1">
                <a:solidFill>
                  <a:srgbClr val="155E66"/>
                </a:solidFill>
                <a:latin typeface="Arial"/>
                <a:ea typeface="Arial"/>
                <a:cs typeface="Arial"/>
              </a:rPr>
              <a:t>Administrador</a:t>
            </a:r>
          </a:p>
        </p:txBody>
      </p:sp>
      <p:sp>
        <p:nvSpPr>
          <p:cNvPr id="4" name="">
            <a:extLst xmlns:a="http://schemas.openxmlformats.org/drawingml/2006/main">
              <a:ext uri="{FF2B5EF4-FFF2-40B4-BE49-F238E27FC236}">
                <a16:creationId xmlns:a16="http://schemas.microsoft.com/office/drawing/2014/main" id="{1439B478-5F24-41FE-8530-79594C59F3AC}"/>
              </a:ext>
            </a:extLst>
          </p:cNvPr>
          <p:cNvSpPr>
            <a:spLocks xmlns:a="http://schemas.openxmlformats.org/drawingml/2006/main" noGrp="1"/>
          </p:cNvSpPr>
          <p:nvPr/>
        </p:nvSpPr>
        <p:spPr>
          <a:xfrm xmlns:a="http://schemas.openxmlformats.org/drawingml/2006/main">
            <a:off x="609600" y="2647950"/>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Consulta los clientes.</a:t>
            </a:r>
          </a:p>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Gestiona los paquetes.</a:t>
            </a:r>
          </a:p>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Asigna los destinatarios.</a:t>
            </a:r>
          </a:p>
        </p:txBody>
      </p:sp>
      <p:sp>
        <p:nvSpPr>
          <p:cNvPr id="5" name="">
            <a:extLst xmlns:a="http://schemas.openxmlformats.org/drawingml/2006/main">
              <a:ext uri="{FF2B5EF4-FFF2-40B4-BE49-F238E27FC236}">
                <a16:creationId xmlns:a16="http://schemas.microsoft.com/office/drawing/2014/main" id="{51C5F338-A55B-4B8C-B183-828F0DA6DBAE}"/>
              </a:ext>
            </a:extLst>
          </p:cNvPr>
          <p:cNvSpPr>
            <a:spLocks xmlns:a="http://schemas.openxmlformats.org/drawingml/2006/main" noGrp="1"/>
          </p:cNvSpPr>
          <p:nvPr/>
        </p:nvSpPr>
        <p:spPr>
          <a:xfrm xmlns:a="http://schemas.openxmlformats.org/drawingml/2006/main">
            <a:off x="6553200" y="17716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55E66"/>
                </a:solidFill>
                <a:latin typeface="Arial"/>
                <a:ea typeface="Arial"/>
                <a:cs typeface="Arial"/>
              </a:defRPr>
            </a:pPr>
            <a:r>
              <a:rPr sz="3000" b="1">
                <a:solidFill>
                  <a:srgbClr val="155E66"/>
                </a:solidFill>
                <a:latin typeface="Arial"/>
                <a:ea typeface="Arial"/>
                <a:cs typeface="Arial"/>
              </a:rPr>
              <a:t>Cliente</a:t>
            </a:r>
          </a:p>
        </p:txBody>
      </p:sp>
      <p:sp>
        <p:nvSpPr>
          <p:cNvPr id="6" name="">
            <a:extLst xmlns:a="http://schemas.openxmlformats.org/drawingml/2006/main">
              <a:ext uri="{FF2B5EF4-FFF2-40B4-BE49-F238E27FC236}">
                <a16:creationId xmlns:a16="http://schemas.microsoft.com/office/drawing/2014/main" id="{B0B055D5-55B9-4A41-9BF3-AC6D3F5D6E7D}"/>
              </a:ext>
            </a:extLst>
          </p:cNvPr>
          <p:cNvSpPr>
            <a:spLocks xmlns:a="http://schemas.openxmlformats.org/drawingml/2006/main" noGrp="1"/>
          </p:cNvSpPr>
          <p:nvPr/>
        </p:nvSpPr>
        <p:spPr>
          <a:xfrm xmlns:a="http://schemas.openxmlformats.org/drawingml/2006/main">
            <a:off x="6553200" y="26479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Consulta sus paquetes.</a:t>
            </a:r>
          </a:p>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Edita su información.</a:t>
            </a:r>
          </a:p>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Cambia su contraseña.</a:t>
            </a:r>
          </a:p>
        </p:txBody>
      </p:sp>
      <p:sp>
        <p:nvSpPr>
          <p:cNvPr id="7" name="">
            <a:extLst xmlns:a="http://schemas.openxmlformats.org/drawingml/2006/main">
              <a:ext uri="{FF2B5EF4-FFF2-40B4-BE49-F238E27FC236}">
                <a16:creationId xmlns:a16="http://schemas.microsoft.com/office/drawing/2014/main" id="{35A0B60A-FC61-4A0E-A51E-13DD3752F1E8}"/>
              </a:ext>
            </a:extLst>
          </p:cNvPr>
          <p:cNvSpPr>
            <a:spLocks xmlns:a="http://schemas.openxmlformats.org/drawingml/2006/main" noGrp="1"/>
          </p:cNvSpPr>
          <p:nvPr/>
        </p:nvSpPr>
        <p:spPr>
          <a:xfrm xmlns:a="http://schemas.openxmlformats.org/drawingml/2006/main">
            <a:off x="609600" y="52197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0676B"/>
                </a:solidFill>
                <a:latin typeface="Arial"/>
                <a:ea typeface="Arial"/>
                <a:cs typeface="Arial"/>
              </a:defRPr>
            </a:pPr>
            <a:r>
              <a:rPr sz="2175" b="0">
                <a:solidFill>
                  <a:srgbClr val="50676B"/>
                </a:solidFill>
                <a:latin typeface="Arial"/>
                <a:ea typeface="Arial"/>
                <a:cs typeface="Arial"/>
              </a:rPr>
              <a:t>Una cuenta administradora inicial, sin contraseña predeterminada.</a:t>
            </a:r>
          </a:p>
        </p:txBody>
      </p:sp>
    </p:spTree>
    <p:extLst>
      <p:ext uri="{BB962C8B-B14F-4D97-AF65-F5344CB8AC3E}">
        <p14:creationId xmlns:p14="http://schemas.microsoft.com/office/powerpoint/2010/main" val="27876006"/>
      </p:ext>
    </p:extLst>
  </p:cSld>
</p:sld>
</file>

<file path=ppt/slides/slide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128BFE-D562-4C07-91CC-1A87DEF7F117}"/>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Registro e inicio de sesión</a:t>
            </a:r>
          </a:p>
        </p:txBody>
      </p:sp>
      <p:sp>
        <p:nvSpPr>
          <p:cNvPr id="2" name="">
            <a:extLst xmlns:a="http://schemas.openxmlformats.org/drawingml/2006/main">
              <a:ext uri="{FF2B5EF4-FFF2-40B4-BE49-F238E27FC236}">
                <a16:creationId xmlns:a16="http://schemas.microsoft.com/office/drawing/2014/main" id="{087CDAAB-517B-4044-9141-F44E04ABB541}"/>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04  /  12</a:t>
            </a:r>
          </a:p>
        </p:txBody>
      </p:sp>
      <p:sp>
        <p:nvSpPr>
          <p:cNvPr id="3" name="">
            <a:extLst xmlns:a="http://schemas.openxmlformats.org/drawingml/2006/main">
              <a:ext uri="{FF2B5EF4-FFF2-40B4-BE49-F238E27FC236}">
                <a16:creationId xmlns:a16="http://schemas.microsoft.com/office/drawing/2014/main" id="{528D1745-ABB8-4807-86E4-DA31FC80BD1D}"/>
              </a:ext>
            </a:extLst>
          </p:cNvPr>
          <p:cNvSpPr>
            <a:spLocks xmlns:a="http://schemas.openxmlformats.org/drawingml/2006/main" noGrp="1"/>
          </p:cNvSpPr>
          <p:nvPr/>
        </p:nvSpPr>
        <p:spPr>
          <a:xfrm xmlns:a="http://schemas.openxmlformats.org/drawingml/2006/main">
            <a:off x="609600" y="176212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Datos del cliente</a:t>
            </a:r>
          </a:p>
        </p:txBody>
      </p:sp>
      <p:sp>
        <p:nvSpPr>
          <p:cNvPr id="4" name="">
            <a:extLst xmlns:a="http://schemas.openxmlformats.org/drawingml/2006/main">
              <a:ext uri="{FF2B5EF4-FFF2-40B4-BE49-F238E27FC236}">
                <a16:creationId xmlns:a16="http://schemas.microsoft.com/office/drawing/2014/main" id="{C849E398-B767-457B-87E0-9622E16F05EB}"/>
              </a:ext>
            </a:extLst>
          </p:cNvPr>
          <p:cNvSpPr>
            <a:spLocks xmlns:a="http://schemas.openxmlformats.org/drawingml/2006/main" noGrp="1"/>
          </p:cNvSpPr>
          <p:nvPr/>
        </p:nvSpPr>
        <p:spPr>
          <a:xfrm xmlns:a="http://schemas.openxmlformats.org/drawingml/2006/main">
            <a:off x="609600" y="2171700"/>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Usuario, nombre, apellidos, edad, dirección y teléfono.</a:t>
            </a:r>
          </a:p>
        </p:txBody>
      </p:sp>
      <p:sp>
        <p:nvSpPr>
          <p:cNvPr id="5" name="">
            <a:extLst xmlns:a="http://schemas.openxmlformats.org/drawingml/2006/main">
              <a:ext uri="{FF2B5EF4-FFF2-40B4-BE49-F238E27FC236}">
                <a16:creationId xmlns:a16="http://schemas.microsoft.com/office/drawing/2014/main" id="{1C2307EB-B40F-410F-93D2-1E9E8F5E157E}"/>
              </a:ext>
            </a:extLst>
          </p:cNvPr>
          <p:cNvSpPr>
            <a:spLocks xmlns:a="http://schemas.openxmlformats.org/drawingml/2006/main" noGrp="1"/>
          </p:cNvSpPr>
          <p:nvPr/>
        </p:nvSpPr>
        <p:spPr>
          <a:xfrm xmlns:a="http://schemas.openxmlformats.org/drawingml/2006/main">
            <a:off x="609600" y="328612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Validaciones</a:t>
            </a:r>
          </a:p>
        </p:txBody>
      </p:sp>
      <p:sp>
        <p:nvSpPr>
          <p:cNvPr id="6" name="">
            <a:extLst xmlns:a="http://schemas.openxmlformats.org/drawingml/2006/main">
              <a:ext uri="{FF2B5EF4-FFF2-40B4-BE49-F238E27FC236}">
                <a16:creationId xmlns:a16="http://schemas.microsoft.com/office/drawing/2014/main" id="{56B0B235-C784-43E0-B024-6C074212653D}"/>
              </a:ext>
            </a:extLst>
          </p:cNvPr>
          <p:cNvSpPr>
            <a:spLocks xmlns:a="http://schemas.openxmlformats.org/drawingml/2006/main" noGrp="1"/>
          </p:cNvSpPr>
          <p:nvPr/>
        </p:nvSpPr>
        <p:spPr>
          <a:xfrm xmlns:a="http://schemas.openxmlformats.org/drawingml/2006/main">
            <a:off x="609600" y="3695700"/>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Edad de 18 a 120 años, usuario único</a:t>
            </a:r>
          </a:p>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y contraseñas coincidentes.</a:t>
            </a:r>
          </a:p>
        </p:txBody>
      </p:sp>
      <p:sp>
        <p:nvSpPr>
          <p:cNvPr id="7" name="">
            <a:extLst xmlns:a="http://schemas.openxmlformats.org/drawingml/2006/main">
              <a:ext uri="{FF2B5EF4-FFF2-40B4-BE49-F238E27FC236}">
                <a16:creationId xmlns:a16="http://schemas.microsoft.com/office/drawing/2014/main" id="{37DDDF42-4043-46AE-9F06-181107CB1F71}"/>
              </a:ext>
            </a:extLst>
          </p:cNvPr>
          <p:cNvSpPr>
            <a:spLocks xmlns:a="http://schemas.openxmlformats.org/drawingml/2006/main" noGrp="1"/>
          </p:cNvSpPr>
          <p:nvPr/>
        </p:nvSpPr>
        <p:spPr>
          <a:xfrm xmlns:a="http://schemas.openxmlformats.org/drawingml/2006/main">
            <a:off x="609600" y="490537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Acceso por credenciales</a:t>
            </a:r>
          </a:p>
        </p:txBody>
      </p:sp>
      <p:sp>
        <p:nvSpPr>
          <p:cNvPr id="8" name="">
            <a:extLst xmlns:a="http://schemas.openxmlformats.org/drawingml/2006/main">
              <a:ext uri="{FF2B5EF4-FFF2-40B4-BE49-F238E27FC236}">
                <a16:creationId xmlns:a16="http://schemas.microsoft.com/office/drawing/2014/main" id="{BE4D8847-47DB-4049-854C-491C7BF715E4}"/>
              </a:ext>
            </a:extLst>
          </p:cNvPr>
          <p:cNvSpPr>
            <a:spLocks xmlns:a="http://schemas.openxmlformats.org/drawingml/2006/main" noGrp="1"/>
          </p:cNvSpPr>
          <p:nvPr/>
        </p:nvSpPr>
        <p:spPr>
          <a:xfrm xmlns:a="http://schemas.openxmlformats.org/drawingml/2006/main">
            <a:off x="609600" y="5314950"/>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Guardar regresa al inicio. Cancelar no registra la cuenta.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43cf84cab674fa5"/>
          <a:stretch xmlns:a="http://schemas.openxmlformats.org/drawingml/2006/main"/>
        </p:blipFill>
        <p:spPr>
          <a:xfrm xmlns:a="http://schemas.openxmlformats.org/drawingml/2006/main">
            <a:off x="8782050" y="1095375"/>
            <a:ext cx="2400300" cy="5334000"/>
          </a:xfrm>
          <a:prstGeom xmlns:a="http://schemas.openxmlformats.org/drawingml/2006/main" prst="rect">
            <a:avLst/>
          </a:prstGeom>
        </p:spPr>
      </p:pic>
    </p:spTree>
    <p:extLst>
      <p:ext uri="{BB962C8B-B14F-4D97-AF65-F5344CB8AC3E}">
        <p14:creationId xmlns:p14="http://schemas.microsoft.com/office/powerpoint/2010/main" val="1314811502"/>
      </p:ext>
    </p:extLst>
  </p:cSld>
</p:sld>
</file>

<file path=ppt/slides/slide5.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94EC1A-221A-4E44-B05B-975A67EEE01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CRUD de paquetes</a:t>
            </a:r>
          </a:p>
        </p:txBody>
      </p:sp>
      <p:sp>
        <p:nvSpPr>
          <p:cNvPr id="2" name="">
            <a:extLst xmlns:a="http://schemas.openxmlformats.org/drawingml/2006/main">
              <a:ext uri="{FF2B5EF4-FFF2-40B4-BE49-F238E27FC236}">
                <a16:creationId xmlns:a16="http://schemas.microsoft.com/office/drawing/2014/main" id="{57A1910B-0878-46E4-ADC4-88B2250CA613}"/>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05  /  12</a:t>
            </a:r>
          </a:p>
        </p:txBody>
      </p:sp>
      <p:sp>
        <p:nvSpPr>
          <p:cNvPr id="3" name="">
            <a:extLst xmlns:a="http://schemas.openxmlformats.org/drawingml/2006/main">
              <a:ext uri="{FF2B5EF4-FFF2-40B4-BE49-F238E27FC236}">
                <a16:creationId xmlns:a16="http://schemas.microsoft.com/office/drawing/2014/main" id="{7EE62AEE-C3A6-44ED-8E1A-548CB164296E}"/>
              </a:ext>
            </a:extLst>
          </p:cNvPr>
          <p:cNvSpPr>
            <a:spLocks xmlns:a="http://schemas.openxmlformats.org/drawingml/2006/main" noGrp="1"/>
          </p:cNvSpPr>
          <p:nvPr/>
        </p:nvSpPr>
        <p:spPr>
          <a:xfrm xmlns:a="http://schemas.openxmlformats.org/drawingml/2006/main">
            <a:off x="609600" y="1752600"/>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5E66"/>
                </a:solidFill>
                <a:latin typeface="Arial"/>
                <a:ea typeface="Arial"/>
                <a:cs typeface="Arial"/>
              </a:defRPr>
            </a:pPr>
            <a:r>
              <a:rPr sz="2325" b="1">
                <a:solidFill>
                  <a:srgbClr val="155E66"/>
                </a:solidFill>
                <a:latin typeface="Arial"/>
                <a:ea typeface="Arial"/>
                <a:cs typeface="Arial"/>
              </a:rPr>
              <a:t>CREATE</a:t>
            </a:r>
          </a:p>
        </p:txBody>
      </p:sp>
      <p:sp>
        <p:nvSpPr>
          <p:cNvPr id="4" name="">
            <a:extLst xmlns:a="http://schemas.openxmlformats.org/drawingml/2006/main">
              <a:ext uri="{FF2B5EF4-FFF2-40B4-BE49-F238E27FC236}">
                <a16:creationId xmlns:a16="http://schemas.microsoft.com/office/drawing/2014/main" id="{DF661929-DCC6-4FA0-BAB8-C2B23C71076D}"/>
              </a:ext>
            </a:extLst>
          </p:cNvPr>
          <p:cNvSpPr>
            <a:spLocks xmlns:a="http://schemas.openxmlformats.org/drawingml/2006/main" noGrp="1"/>
          </p:cNvSpPr>
          <p:nvPr/>
        </p:nvSpPr>
        <p:spPr>
          <a:xfrm xmlns:a="http://schemas.openxmlformats.org/drawingml/2006/main">
            <a:off x="2714625" y="175260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Crear un envío con código único y destinatario.</a:t>
            </a:r>
          </a:p>
        </p:txBody>
      </p:sp>
      <p:sp>
        <p:nvSpPr>
          <p:cNvPr id="5" name="">
            <a:extLst xmlns:a="http://schemas.openxmlformats.org/drawingml/2006/main">
              <a:ext uri="{FF2B5EF4-FFF2-40B4-BE49-F238E27FC236}">
                <a16:creationId xmlns:a16="http://schemas.microsoft.com/office/drawing/2014/main" id="{D83229C4-B46E-4BD5-8733-3DBC3F31E2F3}"/>
              </a:ext>
            </a:extLst>
          </p:cNvPr>
          <p:cNvSpPr>
            <a:spLocks xmlns:a="http://schemas.openxmlformats.org/drawingml/2006/main" noGrp="1"/>
          </p:cNvSpPr>
          <p:nvPr/>
        </p:nvSpPr>
        <p:spPr>
          <a:xfrm xmlns:a="http://schemas.openxmlformats.org/drawingml/2006/main">
            <a:off x="609600" y="282892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5E66"/>
                </a:solidFill>
                <a:latin typeface="Arial"/>
                <a:ea typeface="Arial"/>
                <a:cs typeface="Arial"/>
              </a:defRPr>
            </a:pPr>
            <a:r>
              <a:rPr sz="2325" b="1">
                <a:solidFill>
                  <a:srgbClr val="155E66"/>
                </a:solidFill>
                <a:latin typeface="Arial"/>
                <a:ea typeface="Arial"/>
                <a:cs typeface="Arial"/>
              </a:rPr>
              <a:t>READ</a:t>
            </a:r>
          </a:p>
        </p:txBody>
      </p:sp>
      <p:sp>
        <p:nvSpPr>
          <p:cNvPr id="6" name="">
            <a:extLst xmlns:a="http://schemas.openxmlformats.org/drawingml/2006/main">
              <a:ext uri="{FF2B5EF4-FFF2-40B4-BE49-F238E27FC236}">
                <a16:creationId xmlns:a16="http://schemas.microsoft.com/office/drawing/2014/main" id="{CE846568-2973-4CC0-B74B-77AC5CD8B509}"/>
              </a:ext>
            </a:extLst>
          </p:cNvPr>
          <p:cNvSpPr>
            <a:spLocks xmlns:a="http://schemas.openxmlformats.org/drawingml/2006/main" noGrp="1"/>
          </p:cNvSpPr>
          <p:nvPr/>
        </p:nvSpPr>
        <p:spPr>
          <a:xfrm xmlns:a="http://schemas.openxmlformats.org/drawingml/2006/main">
            <a:off x="2714625" y="28289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Consultar y filtrar los paquetes guardados.</a:t>
            </a:r>
          </a:p>
        </p:txBody>
      </p:sp>
      <p:sp>
        <p:nvSpPr>
          <p:cNvPr id="7" name="">
            <a:extLst xmlns:a="http://schemas.openxmlformats.org/drawingml/2006/main">
              <a:ext uri="{FF2B5EF4-FFF2-40B4-BE49-F238E27FC236}">
                <a16:creationId xmlns:a16="http://schemas.microsoft.com/office/drawing/2014/main" id="{DF9AB63A-3688-458B-B172-139EF03DF031}"/>
              </a:ext>
            </a:extLst>
          </p:cNvPr>
          <p:cNvSpPr>
            <a:spLocks xmlns:a="http://schemas.openxmlformats.org/drawingml/2006/main" noGrp="1"/>
          </p:cNvSpPr>
          <p:nvPr/>
        </p:nvSpPr>
        <p:spPr>
          <a:xfrm xmlns:a="http://schemas.openxmlformats.org/drawingml/2006/main">
            <a:off x="609600" y="3905250"/>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5E66"/>
                </a:solidFill>
                <a:latin typeface="Arial"/>
                <a:ea typeface="Arial"/>
                <a:cs typeface="Arial"/>
              </a:defRPr>
            </a:pPr>
            <a:r>
              <a:rPr sz="2325" b="1">
                <a:solidFill>
                  <a:srgbClr val="155E66"/>
                </a:solidFill>
                <a:latin typeface="Arial"/>
                <a:ea typeface="Arial"/>
                <a:cs typeface="Arial"/>
              </a:rPr>
              <a:t>UPDATE</a:t>
            </a:r>
          </a:p>
        </p:txBody>
      </p:sp>
      <p:sp>
        <p:nvSpPr>
          <p:cNvPr id="8" name="">
            <a:extLst xmlns:a="http://schemas.openxmlformats.org/drawingml/2006/main">
              <a:ext uri="{FF2B5EF4-FFF2-40B4-BE49-F238E27FC236}">
                <a16:creationId xmlns:a16="http://schemas.microsoft.com/office/drawing/2014/main" id="{7E12588D-C9EC-48A0-9DF4-B281D2788A0F}"/>
              </a:ext>
            </a:extLst>
          </p:cNvPr>
          <p:cNvSpPr>
            <a:spLocks xmlns:a="http://schemas.openxmlformats.org/drawingml/2006/main" noGrp="1"/>
          </p:cNvSpPr>
          <p:nvPr/>
        </p:nvSpPr>
        <p:spPr>
          <a:xfrm xmlns:a="http://schemas.openxmlformats.org/drawingml/2006/main">
            <a:off x="2714625" y="390525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Editar datos, estado y cliente destinatario.</a:t>
            </a:r>
          </a:p>
        </p:txBody>
      </p:sp>
      <p:sp>
        <p:nvSpPr>
          <p:cNvPr id="9" name="">
            <a:extLst xmlns:a="http://schemas.openxmlformats.org/drawingml/2006/main">
              <a:ext uri="{FF2B5EF4-FFF2-40B4-BE49-F238E27FC236}">
                <a16:creationId xmlns:a16="http://schemas.microsoft.com/office/drawing/2014/main" id="{9F74F044-D401-42CE-94B7-3A22269B3DE0}"/>
              </a:ext>
            </a:extLst>
          </p:cNvPr>
          <p:cNvSpPr>
            <a:spLocks xmlns:a="http://schemas.openxmlformats.org/drawingml/2006/main" noGrp="1"/>
          </p:cNvSpPr>
          <p:nvPr/>
        </p:nvSpPr>
        <p:spPr>
          <a:xfrm xmlns:a="http://schemas.openxmlformats.org/drawingml/2006/main">
            <a:off x="609600" y="49815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5E66"/>
                </a:solidFill>
                <a:latin typeface="Arial"/>
                <a:ea typeface="Arial"/>
                <a:cs typeface="Arial"/>
              </a:defRPr>
            </a:pPr>
            <a:r>
              <a:rPr sz="2325" b="1">
                <a:solidFill>
                  <a:srgbClr val="155E66"/>
                </a:solidFill>
                <a:latin typeface="Arial"/>
                <a:ea typeface="Arial"/>
                <a:cs typeface="Arial"/>
              </a:rPr>
              <a:t>DELETE</a:t>
            </a:r>
          </a:p>
        </p:txBody>
      </p:sp>
      <p:sp>
        <p:nvSpPr>
          <p:cNvPr id="10" name="">
            <a:extLst xmlns:a="http://schemas.openxmlformats.org/drawingml/2006/main">
              <a:ext uri="{FF2B5EF4-FFF2-40B4-BE49-F238E27FC236}">
                <a16:creationId xmlns:a16="http://schemas.microsoft.com/office/drawing/2014/main" id="{AA0CAEFE-DBD4-46E1-B9C0-2ED6C580C221}"/>
              </a:ext>
            </a:extLst>
          </p:cNvPr>
          <p:cNvSpPr>
            <a:spLocks xmlns:a="http://schemas.openxmlformats.org/drawingml/2006/main" noGrp="1"/>
          </p:cNvSpPr>
          <p:nvPr/>
        </p:nvSpPr>
        <p:spPr>
          <a:xfrm xmlns:a="http://schemas.openxmlformats.org/drawingml/2006/main">
            <a:off x="2714625" y="498157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Confirmar la baja lógica. El código queda reservado.</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fa09f9292d64d02"/>
          <a:stretch xmlns:a="http://schemas.openxmlformats.org/drawingml/2006/main"/>
        </p:blipFill>
        <p:spPr>
          <a:xfrm xmlns:a="http://schemas.openxmlformats.org/drawingml/2006/main">
            <a:off x="8782050" y="1095375"/>
            <a:ext cx="2400300" cy="5334000"/>
          </a:xfrm>
          <a:prstGeom xmlns:a="http://schemas.openxmlformats.org/drawingml/2006/main" prst="rect">
            <a:avLst/>
          </a:prstGeom>
        </p:spPr>
      </p:pic>
    </p:spTree>
    <p:extLst>
      <p:ext uri="{BB962C8B-B14F-4D97-AF65-F5344CB8AC3E}">
        <p14:creationId xmlns:p14="http://schemas.microsoft.com/office/powerpoint/2010/main" val="211880838"/>
      </p:ext>
    </p:extLst>
  </p:cSld>
</p:sld>
</file>

<file path=ppt/slides/slide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28AC78-FD2B-40A2-8AE7-C3B75D616EF2}"/>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Asignación y reasignación</a:t>
            </a:r>
          </a:p>
        </p:txBody>
      </p:sp>
      <p:sp>
        <p:nvSpPr>
          <p:cNvPr id="2" name="">
            <a:extLst xmlns:a="http://schemas.openxmlformats.org/drawingml/2006/main">
              <a:ext uri="{FF2B5EF4-FFF2-40B4-BE49-F238E27FC236}">
                <a16:creationId xmlns:a16="http://schemas.microsoft.com/office/drawing/2014/main" id="{7B1EB257-B337-4057-819B-815AE37500D7}"/>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06  /  12</a:t>
            </a:r>
          </a:p>
        </p:txBody>
      </p:sp>
      <p:sp>
        <p:nvSpPr>
          <p:cNvPr id="3" name="">
            <a:extLst xmlns:a="http://schemas.openxmlformats.org/drawingml/2006/main">
              <a:ext uri="{FF2B5EF4-FFF2-40B4-BE49-F238E27FC236}">
                <a16:creationId xmlns:a16="http://schemas.microsoft.com/office/drawing/2014/main" id="{16FBA4A9-6DC3-4DA0-A61A-B87A97678C77}"/>
              </a:ext>
            </a:extLst>
          </p:cNvPr>
          <p:cNvSpPr>
            <a:spLocks xmlns:a="http://schemas.openxmlformats.org/drawingml/2006/main" noGrp="1"/>
          </p:cNvSpPr>
          <p:nvPr/>
        </p:nvSpPr>
        <p:spPr>
          <a:xfrm xmlns:a="http://schemas.openxmlformats.org/drawingml/2006/main">
            <a:off x="609600" y="1762125"/>
            <a:ext cx="7143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55E66"/>
                </a:solidFill>
                <a:latin typeface="Arial"/>
                <a:ea typeface="Arial"/>
                <a:cs typeface="Arial"/>
              </a:defRPr>
            </a:pPr>
            <a:r>
              <a:rPr sz="3225" b="1">
                <a:solidFill>
                  <a:srgbClr val="155E66"/>
                </a:solidFill>
                <a:latin typeface="Arial"/>
                <a:ea typeface="Arial"/>
                <a:cs typeface="Arial"/>
              </a:rPr>
              <a:t>Cada paquete tiene</a:t>
            </a:r>
          </a:p>
          <a:p xmlns:a="http://schemas.openxmlformats.org/drawingml/2006/main">
            <a:pPr>
              <a:defRPr sz="3225" b="1">
                <a:solidFill>
                  <a:srgbClr val="155E66"/>
                </a:solidFill>
                <a:latin typeface="Arial"/>
                <a:ea typeface="Arial"/>
                <a:cs typeface="Arial"/>
              </a:defRPr>
            </a:pPr>
            <a:r>
              <a:rPr sz="3225" b="1">
                <a:solidFill>
                  <a:srgbClr val="155E66"/>
                </a:solidFill>
                <a:latin typeface="Arial"/>
                <a:ea typeface="Arial"/>
                <a:cs typeface="Arial"/>
              </a:rPr>
              <a:t>un cliente destinatario</a:t>
            </a:r>
          </a:p>
        </p:txBody>
      </p:sp>
      <p:sp>
        <p:nvSpPr>
          <p:cNvPr id="4" name="">
            <a:extLst xmlns:a="http://schemas.openxmlformats.org/drawingml/2006/main">
              <a:ext uri="{FF2B5EF4-FFF2-40B4-BE49-F238E27FC236}">
                <a16:creationId xmlns:a16="http://schemas.microsoft.com/office/drawing/2014/main" id="{269DCB26-9DBA-488C-A1FE-C809AB6275B0}"/>
              </a:ext>
            </a:extLst>
          </p:cNvPr>
          <p:cNvSpPr>
            <a:spLocks xmlns:a="http://schemas.openxmlformats.org/drawingml/2006/main" noGrp="1"/>
          </p:cNvSpPr>
          <p:nvPr/>
        </p:nvSpPr>
        <p:spPr>
          <a:xfrm xmlns:a="http://schemas.openxmlformats.org/drawingml/2006/main">
            <a:off x="609600" y="3390900"/>
            <a:ext cx="695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El administrador elige una cuenta existente.</a:t>
            </a:r>
          </a:p>
        </p:txBody>
      </p:sp>
      <p:sp>
        <p:nvSpPr>
          <p:cNvPr id="5" name="">
            <a:extLst xmlns:a="http://schemas.openxmlformats.org/drawingml/2006/main">
              <a:ext uri="{FF2B5EF4-FFF2-40B4-BE49-F238E27FC236}">
                <a16:creationId xmlns:a16="http://schemas.microsoft.com/office/drawing/2014/main" id="{53C99626-C0CE-4947-8D8C-B466050FA75D}"/>
              </a:ext>
            </a:extLst>
          </p:cNvPr>
          <p:cNvSpPr>
            <a:spLocks xmlns:a="http://schemas.openxmlformats.org/drawingml/2006/main" noGrp="1"/>
          </p:cNvSpPr>
          <p:nvPr/>
        </p:nvSpPr>
        <p:spPr>
          <a:xfrm xmlns:a="http://schemas.openxmlformats.org/drawingml/2006/main">
            <a:off x="609600" y="4381500"/>
            <a:ext cx="7239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Al reasignarlo, el cliente anterior pierde</a:t>
            </a:r>
          </a:p>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el acceso y el nuevo puede consultarlo.</a:t>
            </a:r>
          </a:p>
        </p:txBody>
      </p:sp>
      <p:sp>
        <p:nvSpPr>
          <p:cNvPr id="6" name="">
            <a:extLst xmlns:a="http://schemas.openxmlformats.org/drawingml/2006/main">
              <a:ext uri="{FF2B5EF4-FFF2-40B4-BE49-F238E27FC236}">
                <a16:creationId xmlns:a16="http://schemas.microsoft.com/office/drawing/2014/main" id="{AB576D2D-B175-48BF-B453-E0C8561A0991}"/>
              </a:ext>
            </a:extLst>
          </p:cNvPr>
          <p:cNvSpPr>
            <a:spLocks xmlns:a="http://schemas.openxmlformats.org/drawingml/2006/main" noGrp="1"/>
          </p:cNvSpPr>
          <p:nvPr/>
        </p:nvSpPr>
        <p:spPr>
          <a:xfrm xmlns:a="http://schemas.openxmlformats.org/drawingml/2006/main">
            <a:off x="609600" y="567690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76B"/>
                </a:solidFill>
                <a:latin typeface="Arial"/>
                <a:ea typeface="Arial"/>
                <a:cs typeface="Arial"/>
              </a:defRPr>
            </a:pPr>
            <a:r>
              <a:rPr sz="1800" b="0">
                <a:solidFill>
                  <a:srgbClr val="50676B"/>
                </a:solidFill>
                <a:latin typeface="Arial"/>
                <a:ea typeface="Arial"/>
                <a:cs typeface="Arial"/>
              </a:rPr>
              <a:t>Cambiar el usuario no cambia el identificador de la cuenta.</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a2d2e6cd5b14e0b"/>
          <a:stretch xmlns:a="http://schemas.openxmlformats.org/drawingml/2006/main"/>
        </p:blipFill>
        <p:spPr>
          <a:xfrm xmlns:a="http://schemas.openxmlformats.org/drawingml/2006/main">
            <a:off x="8782050" y="1095375"/>
            <a:ext cx="2400300" cy="5334000"/>
          </a:xfrm>
          <a:prstGeom xmlns:a="http://schemas.openxmlformats.org/drawingml/2006/main" prst="rect">
            <a:avLst/>
          </a:prstGeom>
        </p:spPr>
      </p:pic>
    </p:spTree>
    <p:extLst>
      <p:ext uri="{BB962C8B-B14F-4D97-AF65-F5344CB8AC3E}">
        <p14:creationId xmlns:p14="http://schemas.microsoft.com/office/powerpoint/2010/main" val="192858002"/>
      </p:ext>
    </p:extLst>
  </p:cSld>
</p:sld>
</file>

<file path=ppt/slides/slide7.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186860-8F21-4EE6-9D90-4CD9BDA67AA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Consulta del cliente</a:t>
            </a:r>
          </a:p>
        </p:txBody>
      </p:sp>
      <p:sp>
        <p:nvSpPr>
          <p:cNvPr id="2" name="">
            <a:extLst xmlns:a="http://schemas.openxmlformats.org/drawingml/2006/main">
              <a:ext uri="{FF2B5EF4-FFF2-40B4-BE49-F238E27FC236}">
                <a16:creationId xmlns:a16="http://schemas.microsoft.com/office/drawing/2014/main" id="{8895D050-46CF-4E26-902B-A352805EC562}"/>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07  /  12</a:t>
            </a:r>
          </a:p>
        </p:txBody>
      </p:sp>
      <p:sp>
        <p:nvSpPr>
          <p:cNvPr id="3" name="">
            <a:extLst xmlns:a="http://schemas.openxmlformats.org/drawingml/2006/main">
              <a:ext uri="{FF2B5EF4-FFF2-40B4-BE49-F238E27FC236}">
                <a16:creationId xmlns:a16="http://schemas.microsoft.com/office/drawing/2014/main" id="{94E02C0A-B9A0-4934-8F67-EB0208C5D0E4}"/>
              </a:ext>
            </a:extLst>
          </p:cNvPr>
          <p:cNvSpPr>
            <a:spLocks xmlns:a="http://schemas.openxmlformats.org/drawingml/2006/main" noGrp="1"/>
          </p:cNvSpPr>
          <p:nvPr/>
        </p:nvSpPr>
        <p:spPr>
          <a:xfrm xmlns:a="http://schemas.openxmlformats.org/drawingml/2006/main">
            <a:off x="609600" y="1828800"/>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55E66"/>
                </a:solidFill>
                <a:latin typeface="Arial"/>
                <a:ea typeface="Arial"/>
                <a:cs typeface="Arial"/>
              </a:defRPr>
            </a:pPr>
            <a:r>
              <a:rPr sz="2700" b="1">
                <a:solidFill>
                  <a:srgbClr val="155E66"/>
                </a:solidFill>
                <a:latin typeface="Arial"/>
                <a:ea typeface="Arial"/>
                <a:cs typeface="Arial"/>
              </a:rPr>
              <a:t>Código + cuenta autorizada</a:t>
            </a:r>
          </a:p>
        </p:txBody>
      </p:sp>
      <p:sp>
        <p:nvSpPr>
          <p:cNvPr id="4" name="">
            <a:extLst xmlns:a="http://schemas.openxmlformats.org/drawingml/2006/main">
              <a:ext uri="{FF2B5EF4-FFF2-40B4-BE49-F238E27FC236}">
                <a16:creationId xmlns:a16="http://schemas.microsoft.com/office/drawing/2014/main" id="{316E3BDD-0DDF-42CC-80F2-E30609FBCFA5}"/>
              </a:ext>
            </a:extLst>
          </p:cNvPr>
          <p:cNvSpPr>
            <a:spLocks xmlns:a="http://schemas.openxmlformats.org/drawingml/2006/main" noGrp="1"/>
          </p:cNvSpPr>
          <p:nvPr/>
        </p:nvSpPr>
        <p:spPr>
          <a:xfrm xmlns:a="http://schemas.openxmlformats.org/drawingml/2006/main">
            <a:off x="609600" y="2905125"/>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3C40"/>
                </a:solidFill>
                <a:latin typeface="Arial"/>
                <a:ea typeface="Arial"/>
                <a:cs typeface="Arial"/>
              </a:defRPr>
            </a:pPr>
            <a:r>
              <a:rPr sz="2325" b="0">
                <a:solidFill>
                  <a:srgbClr val="173C40"/>
                </a:solidFill>
                <a:latin typeface="Arial"/>
                <a:ea typeface="Arial"/>
                <a:cs typeface="Arial"/>
              </a:rPr>
              <a:t>Detalle con estado, ruta, destinatario, notas y fechas.</a:t>
            </a:r>
          </a:p>
        </p:txBody>
      </p:sp>
      <p:sp>
        <p:nvSpPr>
          <p:cNvPr id="5" name="">
            <a:extLst xmlns:a="http://schemas.openxmlformats.org/drawingml/2006/main">
              <a:ext uri="{FF2B5EF4-FFF2-40B4-BE49-F238E27FC236}">
                <a16:creationId xmlns:a16="http://schemas.microsoft.com/office/drawing/2014/main" id="{6B001885-4832-4E07-B5F9-AACD5BAB7430}"/>
              </a:ext>
            </a:extLst>
          </p:cNvPr>
          <p:cNvSpPr>
            <a:spLocks xmlns:a="http://schemas.openxmlformats.org/drawingml/2006/main" noGrp="1"/>
          </p:cNvSpPr>
          <p:nvPr/>
        </p:nvSpPr>
        <p:spPr>
          <a:xfrm xmlns:a="http://schemas.openxmlformats.org/drawingml/2006/main">
            <a:off x="609600" y="4743450"/>
            <a:ext cx="5143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50676B"/>
                </a:solidFill>
                <a:latin typeface="Arial"/>
                <a:ea typeface="Arial"/>
                <a:cs typeface="Arial"/>
              </a:defRPr>
            </a:pPr>
            <a:r>
              <a:rPr sz="2175" b="0">
                <a:solidFill>
                  <a:srgbClr val="50676B"/>
                </a:solidFill>
                <a:latin typeface="Arial"/>
                <a:ea typeface="Arial"/>
                <a:cs typeface="Arial"/>
              </a:rPr>
              <a:t>Código ajeno, inexistente</a:t>
            </a:r>
          </a:p>
          <a:p xmlns:a="http://schemas.openxmlformats.org/drawingml/2006/main">
            <a:pPr>
              <a:defRPr sz="2175" b="0">
                <a:solidFill>
                  <a:srgbClr val="50676B"/>
                </a:solidFill>
                <a:latin typeface="Arial"/>
                <a:ea typeface="Arial"/>
                <a:cs typeface="Arial"/>
              </a:defRPr>
            </a:pPr>
            <a:r>
              <a:rPr sz="2175" b="0">
                <a:solidFill>
                  <a:srgbClr val="50676B"/>
                </a:solidFill>
                <a:latin typeface="Arial"/>
                <a:ea typeface="Arial"/>
                <a:cs typeface="Arial"/>
              </a:rPr>
              <a:t>o eliminado:</a:t>
            </a:r>
          </a:p>
        </p:txBody>
      </p:sp>
      <p:sp>
        <p:nvSpPr>
          <p:cNvPr id="6" name="">
            <a:extLst xmlns:a="http://schemas.openxmlformats.org/drawingml/2006/main">
              <a:ext uri="{FF2B5EF4-FFF2-40B4-BE49-F238E27FC236}">
                <a16:creationId xmlns:a16="http://schemas.microsoft.com/office/drawing/2014/main" id="{8D789744-976A-4985-A54F-C434EE57C594}"/>
              </a:ext>
            </a:extLst>
          </p:cNvPr>
          <p:cNvSpPr>
            <a:spLocks xmlns:a="http://schemas.openxmlformats.org/drawingml/2006/main" noGrp="1"/>
          </p:cNvSpPr>
          <p:nvPr/>
        </p:nvSpPr>
        <p:spPr>
          <a:xfrm xmlns:a="http://schemas.openxmlformats.org/drawingml/2006/main">
            <a:off x="609600" y="56578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3C40"/>
                </a:solidFill>
                <a:latin typeface="Arial"/>
                <a:ea typeface="Arial"/>
                <a:cs typeface="Arial"/>
              </a:defRPr>
            </a:pPr>
            <a:r>
              <a:rPr sz="2325" b="1">
                <a:solidFill>
                  <a:srgbClr val="173C40"/>
                </a:solidFill>
                <a:latin typeface="Arial"/>
                <a:ea typeface="Arial"/>
                <a:cs typeface="Arial"/>
              </a:rPr>
              <a:t>«Ese paquete no existe.»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225284977e4f66"/>
          <a:stretch xmlns:a="http://schemas.openxmlformats.org/drawingml/2006/main"/>
        </p:blipFill>
        <p:spPr>
          <a:xfrm xmlns:a="http://schemas.openxmlformats.org/drawingml/2006/main">
            <a:off x="6515100" y="1505479"/>
            <a:ext cx="2181225" cy="4847167"/>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e9880ef01543ba"/>
          <a:stretch xmlns:a="http://schemas.openxmlformats.org/drawingml/2006/main"/>
        </p:blipFill>
        <p:spPr>
          <a:xfrm xmlns:a="http://schemas.openxmlformats.org/drawingml/2006/main">
            <a:off x="9029700" y="1505479"/>
            <a:ext cx="2181225" cy="4847167"/>
          </a:xfrm>
          <a:prstGeom xmlns:a="http://schemas.openxmlformats.org/drawingml/2006/main" prst="rect">
            <a:avLst/>
          </a:prstGeom>
        </p:spPr>
      </p:pic>
    </p:spTree>
    <p:extLst>
      <p:ext uri="{BB962C8B-B14F-4D97-AF65-F5344CB8AC3E}">
        <p14:creationId xmlns:p14="http://schemas.microsoft.com/office/powerpoint/2010/main" val="1083527822"/>
      </p:ext>
    </p:extLst>
  </p:cSld>
</p:sld>
</file>

<file path=ppt/slides/slide8.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AFECFE-6AA6-486F-BF17-6CF475D6D50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Edición del perfil</a:t>
            </a:r>
          </a:p>
        </p:txBody>
      </p:sp>
      <p:sp>
        <p:nvSpPr>
          <p:cNvPr id="2" name="">
            <a:extLst xmlns:a="http://schemas.openxmlformats.org/drawingml/2006/main">
              <a:ext uri="{FF2B5EF4-FFF2-40B4-BE49-F238E27FC236}">
                <a16:creationId xmlns:a16="http://schemas.microsoft.com/office/drawing/2014/main" id="{134D5FC5-2983-4957-A7CE-2FF16D05F804}"/>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08  /  12</a:t>
            </a:r>
          </a:p>
        </p:txBody>
      </p:sp>
      <p:sp>
        <p:nvSpPr>
          <p:cNvPr id="3" name="">
            <a:extLst xmlns:a="http://schemas.openxmlformats.org/drawingml/2006/main">
              <a:ext uri="{FF2B5EF4-FFF2-40B4-BE49-F238E27FC236}">
                <a16:creationId xmlns:a16="http://schemas.microsoft.com/office/drawing/2014/main" id="{BEA9799F-2A21-4B62-8797-E75A6011BDBD}"/>
              </a:ext>
            </a:extLst>
          </p:cNvPr>
          <p:cNvSpPr>
            <a:spLocks xmlns:a="http://schemas.openxmlformats.org/drawingml/2006/main" noGrp="1"/>
          </p:cNvSpPr>
          <p:nvPr/>
        </p:nvSpPr>
        <p:spPr>
          <a:xfrm xmlns:a="http://schemas.openxmlformats.org/drawingml/2006/main">
            <a:off x="609600" y="180022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Información personal</a:t>
            </a:r>
          </a:p>
        </p:txBody>
      </p:sp>
      <p:sp>
        <p:nvSpPr>
          <p:cNvPr id="4" name="">
            <a:extLst xmlns:a="http://schemas.openxmlformats.org/drawingml/2006/main">
              <a:ext uri="{FF2B5EF4-FFF2-40B4-BE49-F238E27FC236}">
                <a16:creationId xmlns:a16="http://schemas.microsoft.com/office/drawing/2014/main" id="{23918848-C36A-4FFD-999E-272F46C83188}"/>
              </a:ext>
            </a:extLst>
          </p:cNvPr>
          <p:cNvSpPr>
            <a:spLocks xmlns:a="http://schemas.openxmlformats.org/drawingml/2006/main" noGrp="1"/>
          </p:cNvSpPr>
          <p:nvPr/>
        </p:nvSpPr>
        <p:spPr>
          <a:xfrm xmlns:a="http://schemas.openxmlformats.org/drawingml/2006/main">
            <a:off x="609600" y="220980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Usuario y datos de contacto editables.</a:t>
            </a:r>
          </a:p>
        </p:txBody>
      </p:sp>
      <p:sp>
        <p:nvSpPr>
          <p:cNvPr id="5" name="">
            <a:extLst xmlns:a="http://schemas.openxmlformats.org/drawingml/2006/main">
              <a:ext uri="{FF2B5EF4-FFF2-40B4-BE49-F238E27FC236}">
                <a16:creationId xmlns:a16="http://schemas.microsoft.com/office/drawing/2014/main" id="{FE77E5B3-00EA-4AF7-8400-155E4F7614DD}"/>
              </a:ext>
            </a:extLst>
          </p:cNvPr>
          <p:cNvSpPr>
            <a:spLocks xmlns:a="http://schemas.openxmlformats.org/drawingml/2006/main" noGrp="1"/>
          </p:cNvSpPr>
          <p:nvPr/>
        </p:nvSpPr>
        <p:spPr>
          <a:xfrm xmlns:a="http://schemas.openxmlformats.org/drawingml/2006/main">
            <a:off x="609600" y="32289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Confirmación de identidad</a:t>
            </a:r>
          </a:p>
        </p:txBody>
      </p:sp>
      <p:sp>
        <p:nvSpPr>
          <p:cNvPr id="6" name="">
            <a:extLst xmlns:a="http://schemas.openxmlformats.org/drawingml/2006/main">
              <a:ext uri="{FF2B5EF4-FFF2-40B4-BE49-F238E27FC236}">
                <a16:creationId xmlns:a16="http://schemas.microsoft.com/office/drawing/2014/main" id="{575416C2-1608-453F-B17B-483DDCDB53AC}"/>
              </a:ext>
            </a:extLst>
          </p:cNvPr>
          <p:cNvSpPr>
            <a:spLocks xmlns:a="http://schemas.openxmlformats.org/drawingml/2006/main" noGrp="1"/>
          </p:cNvSpPr>
          <p:nvPr/>
        </p:nvSpPr>
        <p:spPr>
          <a:xfrm xmlns:a="http://schemas.openxmlformats.org/drawingml/2006/main">
            <a:off x="609600" y="36385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Contraseña actual obligatoria.</a:t>
            </a:r>
          </a:p>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Nueva contraseña opcional.</a:t>
            </a:r>
          </a:p>
        </p:txBody>
      </p:sp>
      <p:sp>
        <p:nvSpPr>
          <p:cNvPr id="7" name="">
            <a:extLst xmlns:a="http://schemas.openxmlformats.org/drawingml/2006/main">
              <a:ext uri="{FF2B5EF4-FFF2-40B4-BE49-F238E27FC236}">
                <a16:creationId xmlns:a16="http://schemas.microsoft.com/office/drawing/2014/main" id="{84686336-FEED-4757-A4D0-4B71D353CD7E}"/>
              </a:ext>
            </a:extLst>
          </p:cNvPr>
          <p:cNvSpPr>
            <a:spLocks xmlns:a="http://schemas.openxmlformats.org/drawingml/2006/main" noGrp="1"/>
          </p:cNvSpPr>
          <p:nvPr/>
        </p:nvSpPr>
        <p:spPr>
          <a:xfrm xmlns:a="http://schemas.openxmlformats.org/drawingml/2006/main">
            <a:off x="609600" y="484822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E66"/>
                </a:solidFill>
                <a:latin typeface="Arial"/>
                <a:ea typeface="Arial"/>
                <a:cs typeface="Arial"/>
              </a:defRPr>
            </a:pPr>
            <a:r>
              <a:rPr sz="2175" b="1">
                <a:solidFill>
                  <a:srgbClr val="155E66"/>
                </a:solidFill>
                <a:latin typeface="Arial"/>
                <a:ea typeface="Arial"/>
                <a:cs typeface="Arial"/>
              </a:rPr>
              <a:t>Asignaciones conservadas</a:t>
            </a:r>
          </a:p>
        </p:txBody>
      </p:sp>
      <p:sp>
        <p:nvSpPr>
          <p:cNvPr id="8" name="">
            <a:extLst xmlns:a="http://schemas.openxmlformats.org/drawingml/2006/main">
              <a:ext uri="{FF2B5EF4-FFF2-40B4-BE49-F238E27FC236}">
                <a16:creationId xmlns:a16="http://schemas.microsoft.com/office/drawing/2014/main" id="{1CC42DC5-B74A-4FF7-B3CB-29BEC40BCFDE}"/>
              </a:ext>
            </a:extLst>
          </p:cNvPr>
          <p:cNvSpPr>
            <a:spLocks xmlns:a="http://schemas.openxmlformats.org/drawingml/2006/main" noGrp="1"/>
          </p:cNvSpPr>
          <p:nvPr/>
        </p:nvSpPr>
        <p:spPr>
          <a:xfrm xmlns:a="http://schemas.openxmlformats.org/drawingml/2006/main">
            <a:off x="609600" y="525780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C40"/>
                </a:solidFill>
                <a:latin typeface="Arial"/>
                <a:ea typeface="Arial"/>
                <a:cs typeface="Arial"/>
              </a:defRPr>
            </a:pPr>
            <a:r>
              <a:rPr sz="2100" b="0">
                <a:solidFill>
                  <a:srgbClr val="173C40"/>
                </a:solidFill>
                <a:latin typeface="Arial"/>
                <a:ea typeface="Arial"/>
                <a:cs typeface="Arial"/>
              </a:rPr>
              <a:t>La cuenta mantiene su identificador y sus paquetes.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6222efb6e554463"/>
          <a:stretch xmlns:a="http://schemas.openxmlformats.org/drawingml/2006/main"/>
        </p:blipFill>
        <p:spPr>
          <a:xfrm xmlns:a="http://schemas.openxmlformats.org/drawingml/2006/main">
            <a:off x="8782050" y="1095375"/>
            <a:ext cx="2400300" cy="5334000"/>
          </a:xfrm>
          <a:prstGeom xmlns:a="http://schemas.openxmlformats.org/drawingml/2006/main" prst="rect">
            <a:avLst/>
          </a:prstGeom>
        </p:spPr>
      </p:pic>
    </p:spTree>
    <p:extLst>
      <p:ext uri="{BB962C8B-B14F-4D97-AF65-F5344CB8AC3E}">
        <p14:creationId xmlns:p14="http://schemas.microsoft.com/office/powerpoint/2010/main" val="716167874"/>
      </p:ext>
    </p:extLst>
  </p:cSld>
</p:sld>
</file>

<file path=ppt/slides/slide9.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2DC577-3798-4B02-B117-FB728064F1A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Herramientas y base de datos</a:t>
            </a:r>
          </a:p>
        </p:txBody>
      </p:sp>
      <p:sp>
        <p:nvSpPr>
          <p:cNvPr id="2" name="">
            <a:extLst xmlns:a="http://schemas.openxmlformats.org/drawingml/2006/main">
              <a:ext uri="{FF2B5EF4-FFF2-40B4-BE49-F238E27FC236}">
                <a16:creationId xmlns:a16="http://schemas.microsoft.com/office/drawing/2014/main" id="{9C6FFE11-CD32-48DB-A46A-BC83B5E09E46}"/>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09  /  12</a:t>
            </a:r>
          </a:p>
        </p:txBody>
      </p:sp>
      <p:graphicFrame>
        <p:nvGraphicFramePr>
          <p:cNvPr id="8" name=""/>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0" bandRow="0"/>
              <a:tblGrid>
                <a:gridCol w="4076700"/>
                <a:gridCol w="6896100"/>
              </a:tblGrid>
              <a:tr h="628650">
                <a:tc>
                  <a:txBody>
                    <a:bodyPr/>
                    <a:lstStyle/>
                    <a:p>
                      <a:r>
                        <a:rPr sz="2025" b="1">
                          <a:solidFill>
                            <a:srgbClr val="FFFFFF"/>
                          </a:solidFill>
                          <a:latin typeface="Arial"/>
                          <a:ea typeface="Arial"/>
                          <a:cs typeface="Arial"/>
                        </a:rPr>
                        <a:t>Componente</a:t>
                      </a:r>
                    </a:p>
                  </a:txBody>
                  <a:tcPr marL="91440" marR="91440" marT="45720" marB="45720">
                    <a:solidFill>
                      <a:srgbClr val="155E66"/>
                    </a:solidFill>
                  </a:tcPr>
                </a:tc>
                <a:tc>
                  <a:txBody>
                    <a:bodyPr/>
                    <a:lstStyle/>
                    <a:p>
                      <a:r>
                        <a:rPr sz="2025" b="1">
                          <a:solidFill>
                            <a:srgbClr val="FFFFFF"/>
                          </a:solidFill>
                          <a:latin typeface="Arial"/>
                          <a:ea typeface="Arial"/>
                          <a:cs typeface="Arial"/>
                        </a:rPr>
                        <a:t>Uso en RutaPaquete</a:t>
                      </a:r>
                    </a:p>
                  </a:txBody>
                  <a:tcPr marL="91440" marR="91440" marT="45720" marB="45720">
                    <a:solidFill>
                      <a:srgbClr val="155E66"/>
                    </a:solidFill>
                  </a:tcPr>
                </a:tc>
              </a:tr>
              <a:tr h="628650">
                <a:tc>
                  <a:txBody>
                    <a:bodyPr/>
                    <a:lstStyle/>
                    <a:p>
                      <a:r>
                        <a:rPr sz="2025" b="0">
                          <a:solidFill>
                            <a:srgbClr val="173C40"/>
                          </a:solidFill>
                          <a:latin typeface="Arial"/>
                          <a:ea typeface="Arial"/>
                          <a:cs typeface="Arial"/>
                        </a:rPr>
                        <a:t>Kotlin y Android Studio</a:t>
                      </a:r>
                    </a:p>
                  </a:txBody>
                  <a:tcPr marL="91440" marR="91440" marT="45720" marB="45720">
                    <a:solidFill>
                      <a:srgbClr val="F6F8F4"/>
                    </a:solidFill>
                  </a:tcPr>
                </a:tc>
                <a:tc>
                  <a:txBody>
                    <a:bodyPr/>
                    <a:lstStyle/>
                    <a:p>
                      <a:r>
                        <a:rPr sz="2025" b="0">
                          <a:solidFill>
                            <a:srgbClr val="173C40"/>
                          </a:solidFill>
                          <a:latin typeface="Arial"/>
                          <a:ea typeface="Arial"/>
                          <a:cs typeface="Arial"/>
                        </a:rPr>
                        <a:t>Lógica, desarrollo y depuración</a:t>
                      </a:r>
                    </a:p>
                  </a:txBody>
                  <a:tcPr marL="91440" marR="91440" marT="45720" marB="45720">
                    <a:solidFill>
                      <a:srgbClr val="F6F8F4"/>
                    </a:solidFill>
                  </a:tcPr>
                </a:tc>
              </a:tr>
              <a:tr h="628650">
                <a:tc>
                  <a:txBody>
                    <a:bodyPr/>
                    <a:lstStyle/>
                    <a:p>
                      <a:r>
                        <a:rPr sz="2025" b="0">
                          <a:solidFill>
                            <a:srgbClr val="173C40"/>
                          </a:solidFill>
                          <a:latin typeface="Arial"/>
                          <a:ea typeface="Arial"/>
                          <a:cs typeface="Arial"/>
                        </a:rPr>
                        <a:t>XML, Material y View Binding</a:t>
                      </a:r>
                    </a:p>
                  </a:txBody>
                  <a:tcPr marL="91440" marR="91440" marT="45720" marB="45720">
                    <a:solidFill>
                      <a:srgbClr val="F6F8F4"/>
                    </a:solidFill>
                  </a:tcPr>
                </a:tc>
                <a:tc>
                  <a:txBody>
                    <a:bodyPr/>
                    <a:lstStyle/>
                    <a:p>
                      <a:r>
                        <a:rPr sz="2025" b="0">
                          <a:solidFill>
                            <a:srgbClr val="173C40"/>
                          </a:solidFill>
                          <a:latin typeface="Arial"/>
                          <a:ea typeface="Arial"/>
                          <a:cs typeface="Arial"/>
                        </a:rPr>
                        <a:t>Pantallas y controles del formulario</a:t>
                      </a:r>
                    </a:p>
                  </a:txBody>
                  <a:tcPr marL="91440" marR="91440" marT="45720" marB="45720">
                    <a:solidFill>
                      <a:srgbClr val="F6F8F4"/>
                    </a:solidFill>
                  </a:tcPr>
                </a:tc>
              </a:tr>
              <a:tr h="628650">
                <a:tc>
                  <a:txBody>
                    <a:bodyPr/>
                    <a:lstStyle/>
                    <a:p>
                      <a:r>
                        <a:rPr sz="2025" b="0">
                          <a:solidFill>
                            <a:srgbClr val="173C40"/>
                          </a:solidFill>
                          <a:latin typeface="Arial"/>
                          <a:ea typeface="Arial"/>
                          <a:cs typeface="Arial"/>
                        </a:rPr>
                        <a:t>Room y SQLite</a:t>
                      </a:r>
                    </a:p>
                  </a:txBody>
                  <a:tcPr marL="91440" marR="91440" marT="45720" marB="45720">
                    <a:solidFill>
                      <a:srgbClr val="F6F8F4"/>
                    </a:solidFill>
                  </a:tcPr>
                </a:tc>
                <a:tc>
                  <a:txBody>
                    <a:bodyPr/>
                    <a:lstStyle/>
                    <a:p>
                      <a:r>
                        <a:rPr sz="2025" b="0">
                          <a:solidFill>
                            <a:srgbClr val="173C40"/>
                          </a:solidFill>
                          <a:latin typeface="Arial"/>
                          <a:ea typeface="Arial"/>
                          <a:cs typeface="Arial"/>
                        </a:rPr>
                        <a:t>Usuarios y paquetes en el dispositivo</a:t>
                      </a:r>
                    </a:p>
                  </a:txBody>
                  <a:tcPr marL="91440" marR="91440" marT="45720" marB="45720">
                    <a:solidFill>
                      <a:srgbClr val="F6F8F4"/>
                    </a:solidFill>
                  </a:tcPr>
                </a:tc>
              </a:tr>
              <a:tr h="628650">
                <a:tc>
                  <a:txBody>
                    <a:bodyPr/>
                    <a:lstStyle/>
                    <a:p>
                      <a:r>
                        <a:rPr sz="2025" b="0">
                          <a:solidFill>
                            <a:srgbClr val="173C40"/>
                          </a:solidFill>
                          <a:latin typeface="Arial"/>
                          <a:ea typeface="Arial"/>
                          <a:cs typeface="Arial"/>
                        </a:rPr>
                        <a:t>Repositorios y corrutinas</a:t>
                      </a:r>
                    </a:p>
                  </a:txBody>
                  <a:tcPr marL="91440" marR="91440" marT="45720" marB="45720">
                    <a:solidFill>
                      <a:srgbClr val="F6F8F4"/>
                    </a:solidFill>
                  </a:tcPr>
                </a:tc>
                <a:tc>
                  <a:txBody>
                    <a:bodyPr/>
                    <a:lstStyle/>
                    <a:p>
                      <a:r>
                        <a:rPr sz="2025" b="0">
                          <a:solidFill>
                            <a:srgbClr val="173C40"/>
                          </a:solidFill>
                          <a:latin typeface="Arial"/>
                          <a:ea typeface="Arial"/>
                          <a:cs typeface="Arial"/>
                        </a:rPr>
                        <a:t>Operaciones y comprobaciones de permisos</a:t>
                      </a:r>
                    </a:p>
                  </a:txBody>
                  <a:tcPr marL="91440" marR="91440" marT="45720" marB="45720">
                    <a:solidFill>
                      <a:srgbClr val="F6F8F4"/>
                    </a:solidFill>
                  </a:tcPr>
                </a:tc>
              </a:tr>
            </a:tbl>
          </a:graphicData>
        </a:graphic>
      </p:graphicFrame>
      <p:sp>
        <p:nvSpPr>
          <p:cNvPr id="4" name="">
            <a:extLst xmlns:a="http://schemas.openxmlformats.org/drawingml/2006/main">
              <a:ext uri="{FF2B5EF4-FFF2-40B4-BE49-F238E27FC236}">
                <a16:creationId xmlns:a16="http://schemas.microsoft.com/office/drawing/2014/main" id="{771153C2-F7E5-4140-AE88-F621408FC353}"/>
              </a:ext>
            </a:extLst>
          </p:cNvPr>
          <p:cNvSpPr>
            <a:spLocks xmlns:a="http://schemas.openxmlformats.org/drawingml/2006/main" noGrp="1"/>
          </p:cNvSpPr>
          <p:nvPr/>
        </p:nvSpPr>
        <p:spPr>
          <a:xfrm xmlns:a="http://schemas.openxmlformats.org/drawingml/2006/main">
            <a:off x="609600" y="5238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C40"/>
                </a:solidFill>
                <a:latin typeface="Arial"/>
                <a:ea typeface="Arial"/>
                <a:cs typeface="Arial"/>
              </a:defRPr>
            </a:pPr>
            <a:r>
              <a:rPr sz="2100" b="1">
                <a:solidFill>
                  <a:srgbClr val="173C40"/>
                </a:solidFill>
                <a:latin typeface="Arial"/>
                <a:ea typeface="Arial"/>
                <a:cs typeface="Arial"/>
              </a:rPr>
              <a:t>Un cliente puede tener varios paquetes. Cada paquete guarda su clienteId.</a:t>
            </a:r>
          </a:p>
        </p:txBody>
      </p:sp>
      <p:sp>
        <p:nvSpPr>
          <p:cNvPr id="5" name="">
            <a:extLst xmlns:a="http://schemas.openxmlformats.org/drawingml/2006/main">
              <a:ext uri="{FF2B5EF4-FFF2-40B4-BE49-F238E27FC236}">
                <a16:creationId xmlns:a16="http://schemas.microsoft.com/office/drawing/2014/main" id="{0F814192-9C9A-4A5A-940D-5956EE634521}"/>
              </a:ext>
            </a:extLst>
          </p:cNvPr>
          <p:cNvSpPr>
            <a:spLocks xmlns:a="http://schemas.openxmlformats.org/drawingml/2006/main" noGrp="1"/>
          </p:cNvSpPr>
          <p:nvPr/>
        </p:nvSpPr>
        <p:spPr>
          <a:xfrm xmlns:a="http://schemas.openxmlformats.org/drawingml/2006/main">
            <a:off x="609600" y="60293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0676B"/>
                </a:solidFill>
                <a:latin typeface="Arial"/>
                <a:ea typeface="Arial"/>
                <a:cs typeface="Arial"/>
              </a:defRPr>
            </a:pPr>
            <a:r>
              <a:rPr sz="1800" b="0">
                <a:solidFill>
                  <a:srgbClr val="50676B"/>
                </a:solidFill>
                <a:latin typeface="Arial"/>
                <a:ea typeface="Arial"/>
                <a:cs typeface="Arial"/>
              </a:rPr>
              <a:t>La migración conserva las cuentas de la primera versión.</a:t>
            </a:r>
          </a:p>
        </p:txBody>
      </p:sp>
    </p:spTree>
    <p:extLst>
      <p:ext uri="{BB962C8B-B14F-4D97-AF65-F5344CB8AC3E}">
        <p14:creationId xmlns:p14="http://schemas.microsoft.com/office/powerpoint/2010/main" val="813696949"/>
      </p:ext>
    </p:extLst>
  </p:cSld>
</p:sld>
</file>

<file path=ppt/slides/slide10.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273B3C-6345-44D0-BBB6-DBCE6AAA528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Seguridad y pruebas</a:t>
            </a:r>
          </a:p>
        </p:txBody>
      </p:sp>
      <p:sp>
        <p:nvSpPr>
          <p:cNvPr id="2" name="">
            <a:extLst xmlns:a="http://schemas.openxmlformats.org/drawingml/2006/main">
              <a:ext uri="{FF2B5EF4-FFF2-40B4-BE49-F238E27FC236}">
                <a16:creationId xmlns:a16="http://schemas.microsoft.com/office/drawing/2014/main" id="{9A39AF7A-BD9E-4CC1-A200-CB4A860CCA6B}"/>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10  /  12</a:t>
            </a:r>
          </a:p>
        </p:txBody>
      </p:sp>
      <p:sp>
        <p:nvSpPr>
          <p:cNvPr id="3" name="">
            <a:extLst xmlns:a="http://schemas.openxmlformats.org/drawingml/2006/main">
              <a:ext uri="{FF2B5EF4-FFF2-40B4-BE49-F238E27FC236}">
                <a16:creationId xmlns:a16="http://schemas.microsoft.com/office/drawing/2014/main" id="{929A0781-98DA-4F15-963A-8837DA32FABC}"/>
              </a:ext>
            </a:extLst>
          </p:cNvPr>
          <p:cNvSpPr>
            <a:spLocks xmlns:a="http://schemas.openxmlformats.org/drawingml/2006/main" noGrp="1"/>
          </p:cNvSpPr>
          <p:nvPr/>
        </p:nvSpPr>
        <p:spPr>
          <a:xfrm xmlns:a="http://schemas.openxmlformats.org/drawingml/2006/main">
            <a:off x="609600" y="1609725"/>
            <a:ext cx="2381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155E66"/>
                </a:solidFill>
                <a:latin typeface="Arial"/>
                <a:ea typeface="Arial"/>
                <a:cs typeface="Arial"/>
              </a:defRPr>
            </a:pPr>
            <a:r>
              <a:rPr sz="7500" b="1">
                <a:solidFill>
                  <a:srgbClr val="155E66"/>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8FE8D177-6D9A-48A7-9C07-243568AE9E50}"/>
              </a:ext>
            </a:extLst>
          </p:cNvPr>
          <p:cNvSpPr>
            <a:spLocks xmlns:a="http://schemas.openxmlformats.org/drawingml/2006/main" noGrp="1"/>
          </p:cNvSpPr>
          <p:nvPr/>
        </p:nvSpPr>
        <p:spPr>
          <a:xfrm xmlns:a="http://schemas.openxmlformats.org/drawingml/2006/main">
            <a:off x="609600" y="281940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pruebas locales</a:t>
            </a:r>
          </a:p>
        </p:txBody>
      </p:sp>
      <p:sp>
        <p:nvSpPr>
          <p:cNvPr id="5" name="">
            <a:extLst xmlns:a="http://schemas.openxmlformats.org/drawingml/2006/main">
              <a:ext uri="{FF2B5EF4-FFF2-40B4-BE49-F238E27FC236}">
                <a16:creationId xmlns:a16="http://schemas.microsoft.com/office/drawing/2014/main" id="{E7E728F5-AFBA-4897-BF53-0FFC2A495CC7}"/>
              </a:ext>
            </a:extLst>
          </p:cNvPr>
          <p:cNvSpPr>
            <a:spLocks xmlns:a="http://schemas.openxmlformats.org/drawingml/2006/main" noGrp="1"/>
          </p:cNvSpPr>
          <p:nvPr/>
        </p:nvSpPr>
        <p:spPr>
          <a:xfrm xmlns:a="http://schemas.openxmlformats.org/drawingml/2006/main">
            <a:off x="6429375" y="1609725"/>
            <a:ext cx="2381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0" b="1">
                <a:solidFill>
                  <a:srgbClr val="155E66"/>
                </a:solidFill>
                <a:latin typeface="Arial"/>
                <a:ea typeface="Arial"/>
                <a:cs typeface="Arial"/>
              </a:defRPr>
            </a:pPr>
            <a:r>
              <a:rPr sz="7500" b="1">
                <a:solidFill>
                  <a:srgbClr val="155E66"/>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F6F98169-91AD-40FC-ABCC-B7600CACC9E3}"/>
              </a:ext>
            </a:extLst>
          </p:cNvPr>
          <p:cNvSpPr>
            <a:spLocks xmlns:a="http://schemas.openxmlformats.org/drawingml/2006/main" noGrp="1"/>
          </p:cNvSpPr>
          <p:nvPr/>
        </p:nvSpPr>
        <p:spPr>
          <a:xfrm xmlns:a="http://schemas.openxmlformats.org/drawingml/2006/main">
            <a:off x="6429375" y="281940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pruebas en el emulador</a:t>
            </a:r>
          </a:p>
        </p:txBody>
      </p:sp>
      <p:sp>
        <p:nvSpPr>
          <p:cNvPr id="7" name="">
            <a:extLst xmlns:a="http://schemas.openxmlformats.org/drawingml/2006/main">
              <a:ext uri="{FF2B5EF4-FFF2-40B4-BE49-F238E27FC236}">
                <a16:creationId xmlns:a16="http://schemas.microsoft.com/office/drawing/2014/main" id="{CC46DDF2-9A74-47FA-94C3-48DE0C62FD71}"/>
              </a:ext>
            </a:extLst>
          </p:cNvPr>
          <p:cNvSpPr>
            <a:spLocks xmlns:a="http://schemas.openxmlformats.org/drawingml/2006/main" noGrp="1"/>
          </p:cNvSpPr>
          <p:nvPr/>
        </p:nvSpPr>
        <p:spPr>
          <a:xfrm xmlns:a="http://schemas.openxmlformats.org/drawingml/2006/main">
            <a:off x="609600" y="36290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3C40"/>
                </a:solidFill>
                <a:latin typeface="Arial"/>
                <a:ea typeface="Arial"/>
                <a:cs typeface="Arial"/>
              </a:defRPr>
            </a:pPr>
            <a:r>
              <a:rPr sz="2475" b="1">
                <a:solidFill>
                  <a:srgbClr val="173C40"/>
                </a:solidFill>
                <a:latin typeface="Arial"/>
                <a:ea typeface="Arial"/>
                <a:cs typeface="Arial"/>
              </a:rPr>
              <a:t>Todas aprobadas en la verificación del 25/09/2026</a:t>
            </a:r>
          </a:p>
        </p:txBody>
      </p:sp>
      <p:sp>
        <p:nvSpPr>
          <p:cNvPr id="8" name="">
            <a:extLst xmlns:a="http://schemas.openxmlformats.org/drawingml/2006/main">
              <a:ext uri="{FF2B5EF4-FFF2-40B4-BE49-F238E27FC236}">
                <a16:creationId xmlns:a16="http://schemas.microsoft.com/office/drawing/2014/main" id="{451DB6BF-FFBF-4923-BF34-A813120DC195}"/>
              </a:ext>
            </a:extLst>
          </p:cNvPr>
          <p:cNvSpPr>
            <a:spLocks xmlns:a="http://schemas.openxmlformats.org/drawingml/2006/main" noGrp="1"/>
          </p:cNvSpPr>
          <p:nvPr/>
        </p:nvSpPr>
        <p:spPr>
          <a:xfrm xmlns:a="http://schemas.openxmlformats.org/drawingml/2006/main">
            <a:off x="609600" y="46672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C40"/>
                </a:solidFill>
                <a:latin typeface="Arial"/>
                <a:ea typeface="Arial"/>
                <a:cs typeface="Arial"/>
              </a:defRPr>
            </a:pPr>
            <a:r>
              <a:rPr sz="2175" b="0">
                <a:solidFill>
                  <a:srgbClr val="173C40"/>
                </a:solidFill>
                <a:latin typeface="Arial"/>
                <a:ea typeface="Arial"/>
                <a:cs typeface="Arial"/>
              </a:rPr>
              <a:t>Contraseñas con hash y salt. Permisos por rol y propietario.</a:t>
            </a:r>
          </a:p>
        </p:txBody>
      </p:sp>
      <p:sp>
        <p:nvSpPr>
          <p:cNvPr id="9" name="">
            <a:extLst xmlns:a="http://schemas.openxmlformats.org/drawingml/2006/main">
              <a:ext uri="{FF2B5EF4-FFF2-40B4-BE49-F238E27FC236}">
                <a16:creationId xmlns:a16="http://schemas.microsoft.com/office/drawing/2014/main" id="{98EE9598-5F7E-4B72-B5FA-B6AB542BFA50}"/>
              </a:ext>
            </a:extLst>
          </p:cNvPr>
          <p:cNvSpPr>
            <a:spLocks xmlns:a="http://schemas.openxmlformats.org/drawingml/2006/main" noGrp="1"/>
          </p:cNvSpPr>
          <p:nvPr/>
        </p:nvSpPr>
        <p:spPr>
          <a:xfrm xmlns:a="http://schemas.openxmlformats.org/drawingml/2006/main">
            <a:off x="609600" y="56007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0676B"/>
                </a:solidFill>
                <a:latin typeface="Arial"/>
                <a:ea typeface="Arial"/>
                <a:cs typeface="Arial"/>
              </a:defRPr>
            </a:pPr>
            <a:r>
              <a:rPr sz="1725" b="0">
                <a:solidFill>
                  <a:srgbClr val="50676B"/>
                </a:solidFill>
                <a:latin typeface="Arial"/>
                <a:ea typeface="Arial"/>
                <a:cs typeface="Arial"/>
              </a:rPr>
              <a:t>Android Lint: 0 errores y 27 advertencias documentadas.</a:t>
            </a:r>
          </a:p>
          <a:p xmlns:a="http://schemas.openxmlformats.org/drawingml/2006/main">
            <a:pPr>
              <a:defRPr sz="1725" b="0">
                <a:solidFill>
                  <a:srgbClr val="50676B"/>
                </a:solidFill>
                <a:latin typeface="Arial"/>
                <a:ea typeface="Arial"/>
                <a:cs typeface="Arial"/>
              </a:defRPr>
            </a:pPr>
            <a:r>
              <a:rPr sz="1725" b="0">
                <a:solidFill>
                  <a:srgbClr val="50676B"/>
                </a:solidFill>
                <a:latin typeface="Arial"/>
                <a:ea typeface="Arial"/>
                <a:cs typeface="Arial"/>
              </a:rPr>
              <a:t>Verificación en API 37, sin certificación de todos los dispositivos.</a:t>
            </a:r>
          </a:p>
        </p:txBody>
      </p:sp>
    </p:spTree>
    <p:extLst>
      <p:ext uri="{BB962C8B-B14F-4D97-AF65-F5344CB8AC3E}">
        <p14:creationId xmlns:p14="http://schemas.microsoft.com/office/powerpoint/2010/main" val="1005558595"/>
      </p:ext>
    </p:extLst>
  </p:cSld>
</p:sld>
</file>

<file path=ppt/slides/slide11.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57A58A-E069-4A71-BA30-3CE04B86B06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3C40"/>
                </a:solidFill>
                <a:latin typeface="Arial"/>
                <a:ea typeface="Arial"/>
                <a:cs typeface="Arial"/>
              </a:defRPr>
            </a:pPr>
            <a:r>
              <a:rPr sz="3300" b="1">
                <a:solidFill>
                  <a:srgbClr val="173C40"/>
                </a:solidFill>
                <a:latin typeface="Arial"/>
                <a:ea typeface="Arial"/>
                <a:cs typeface="Arial"/>
              </a:rPr>
              <a:t>Alcance actual y evolución</a:t>
            </a:r>
          </a:p>
        </p:txBody>
      </p:sp>
      <p:sp>
        <p:nvSpPr>
          <p:cNvPr id="2" name="">
            <a:extLst xmlns:a="http://schemas.openxmlformats.org/drawingml/2006/main">
              <a:ext uri="{FF2B5EF4-FFF2-40B4-BE49-F238E27FC236}">
                <a16:creationId xmlns:a16="http://schemas.microsoft.com/office/drawing/2014/main" id="{AC7467D1-57D1-4F67-A626-E49C18D0B770}"/>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0676B"/>
                </a:solidFill>
                <a:latin typeface="Arial"/>
                <a:ea typeface="Arial"/>
                <a:cs typeface="Arial"/>
              </a:defRPr>
            </a:pPr>
            <a:r>
              <a:rPr sz="1350" b="0">
                <a:solidFill>
                  <a:srgbClr val="50676B"/>
                </a:solidFill>
                <a:latin typeface="Arial"/>
                <a:ea typeface="Arial"/>
                <a:cs typeface="Arial"/>
              </a:rPr>
              <a:t>11  /  12</a:t>
            </a:r>
          </a:p>
        </p:txBody>
      </p:sp>
      <p:sp>
        <p:nvSpPr>
          <p:cNvPr id="3" name="">
            <a:extLst xmlns:a="http://schemas.openxmlformats.org/drawingml/2006/main">
              <a:ext uri="{FF2B5EF4-FFF2-40B4-BE49-F238E27FC236}">
                <a16:creationId xmlns:a16="http://schemas.microsoft.com/office/drawing/2014/main" id="{3FC79CF2-C9E0-453D-874A-2B7A61E51356}"/>
              </a:ext>
            </a:extLst>
          </p:cNvPr>
          <p:cNvSpPr>
            <a:spLocks xmlns:a="http://schemas.openxmlformats.org/drawingml/2006/main" noGrp="1"/>
          </p:cNvSpPr>
          <p:nvPr/>
        </p:nvSpPr>
        <p:spPr>
          <a:xfrm xmlns:a="http://schemas.openxmlformats.org/drawingml/2006/main">
            <a:off x="609600" y="1790700"/>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55E66"/>
                </a:solidFill>
                <a:latin typeface="Arial"/>
                <a:ea typeface="Arial"/>
                <a:cs typeface="Arial"/>
              </a:defRPr>
            </a:pPr>
            <a:r>
              <a:rPr sz="3000" b="1">
                <a:solidFill>
                  <a:srgbClr val="155E66"/>
                </a:solidFill>
                <a:latin typeface="Arial"/>
                <a:ea typeface="Arial"/>
                <a:cs typeface="Arial"/>
              </a:rPr>
              <a:t>Hoy</a:t>
            </a:r>
          </a:p>
        </p:txBody>
      </p:sp>
      <p:sp>
        <p:nvSpPr>
          <p:cNvPr id="4" name="">
            <a:extLst xmlns:a="http://schemas.openxmlformats.org/drawingml/2006/main">
              <a:ext uri="{FF2B5EF4-FFF2-40B4-BE49-F238E27FC236}">
                <a16:creationId xmlns:a16="http://schemas.microsoft.com/office/drawing/2014/main" id="{4AEAE781-282B-4155-AAAA-0709BFC3BCB2}"/>
              </a:ext>
            </a:extLst>
          </p:cNvPr>
          <p:cNvSpPr>
            <a:spLocks xmlns:a="http://schemas.openxmlformats.org/drawingml/2006/main" noGrp="1"/>
          </p:cNvSpPr>
          <p:nvPr/>
        </p:nvSpPr>
        <p:spPr>
          <a:xfrm xmlns:a="http://schemas.openxmlformats.org/drawingml/2006/main">
            <a:off x="609600" y="2667000"/>
            <a:ext cx="5000625"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Flujo completo en un dispositivo.</a:t>
            </a:r>
          </a:p>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Datos persistentes en Room.</a:t>
            </a:r>
          </a:p>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Estado actualizado por el administrador.</a:t>
            </a:r>
          </a:p>
        </p:txBody>
      </p:sp>
      <p:sp>
        <p:nvSpPr>
          <p:cNvPr id="5" name="">
            <a:extLst xmlns:a="http://schemas.openxmlformats.org/drawingml/2006/main">
              <a:ext uri="{FF2B5EF4-FFF2-40B4-BE49-F238E27FC236}">
                <a16:creationId xmlns:a16="http://schemas.microsoft.com/office/drawing/2014/main" id="{EEF9466D-35AA-42D7-9292-C5B7F317B26E}"/>
              </a:ext>
            </a:extLst>
          </p:cNvPr>
          <p:cNvSpPr>
            <a:spLocks xmlns:a="http://schemas.openxmlformats.org/drawingml/2006/main" noGrp="1"/>
          </p:cNvSpPr>
          <p:nvPr/>
        </p:nvSpPr>
        <p:spPr>
          <a:xfrm xmlns:a="http://schemas.openxmlformats.org/drawingml/2006/main">
            <a:off x="6572250" y="1790700"/>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55E66"/>
                </a:solidFill>
                <a:latin typeface="Arial"/>
                <a:ea typeface="Arial"/>
                <a:cs typeface="Arial"/>
              </a:defRPr>
            </a:pPr>
            <a:r>
              <a:rPr sz="3000" b="1">
                <a:solidFill>
                  <a:srgbClr val="155E66"/>
                </a:solidFill>
                <a:latin typeface="Arial"/>
                <a:ea typeface="Arial"/>
                <a:cs typeface="Arial"/>
              </a:rPr>
              <a:t>Siguiente etapa</a:t>
            </a:r>
          </a:p>
        </p:txBody>
      </p:sp>
      <p:sp>
        <p:nvSpPr>
          <p:cNvPr id="6" name="">
            <a:extLst xmlns:a="http://schemas.openxmlformats.org/drawingml/2006/main">
              <a:ext uri="{FF2B5EF4-FFF2-40B4-BE49-F238E27FC236}">
                <a16:creationId xmlns:a16="http://schemas.microsoft.com/office/drawing/2014/main" id="{AC6AC6A5-3848-433C-ABBC-4CB9909E46E8}"/>
              </a:ext>
            </a:extLst>
          </p:cNvPr>
          <p:cNvSpPr>
            <a:spLocks xmlns:a="http://schemas.openxmlformats.org/drawingml/2006/main" noGrp="1"/>
          </p:cNvSpPr>
          <p:nvPr/>
        </p:nvSpPr>
        <p:spPr>
          <a:xfrm xmlns:a="http://schemas.openxmlformats.org/drawingml/2006/main">
            <a:off x="6572250" y="266700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API y base central.</a:t>
            </a:r>
          </a:p>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Autenticación en servidor.</a:t>
            </a:r>
          </a:p>
          <a:p xmlns:a="http://schemas.openxmlformats.org/drawingml/2006/main">
            <a:pPr>
              <a:defRPr sz="2250" b="0">
                <a:solidFill>
                  <a:srgbClr val="173C40"/>
                </a:solidFill>
                <a:latin typeface="Arial"/>
                <a:ea typeface="Arial"/>
                <a:cs typeface="Arial"/>
              </a:defRPr>
            </a:pPr>
            <a:r>
              <a:rPr sz="2250" b="0">
                <a:solidFill>
                  <a:srgbClr val="173C40"/>
                </a:solidFill>
                <a:latin typeface="Arial"/>
                <a:ea typeface="Arial"/>
                <a:cs typeface="Arial"/>
              </a:rPr>
              <a:t>Uso desde teléfonos distintos.</a:t>
            </a:r>
          </a:p>
        </p:txBody>
      </p:sp>
      <p:sp>
        <p:nvSpPr>
          <p:cNvPr id="7" name="">
            <a:extLst xmlns:a="http://schemas.openxmlformats.org/drawingml/2006/main">
              <a:ext uri="{FF2B5EF4-FFF2-40B4-BE49-F238E27FC236}">
                <a16:creationId xmlns:a16="http://schemas.microsoft.com/office/drawing/2014/main" id="{F1061107-12FB-400A-87CB-695AEAF56FFB}"/>
              </a:ext>
            </a:extLst>
          </p:cNvPr>
          <p:cNvSpPr>
            <a:spLocks xmlns:a="http://schemas.openxmlformats.org/drawingml/2006/main" noGrp="1"/>
          </p:cNvSpPr>
          <p:nvPr/>
        </p:nvSpPr>
        <p:spPr>
          <a:xfrm xmlns:a="http://schemas.openxmlformats.org/drawingml/2006/main">
            <a:off x="609600" y="55816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0676B"/>
                </a:solidFill>
                <a:latin typeface="Arial"/>
                <a:ea typeface="Arial"/>
                <a:cs typeface="Arial"/>
              </a:defRPr>
            </a:pPr>
            <a:r>
              <a:rPr sz="2025" b="0">
                <a:solidFill>
                  <a:srgbClr val="50676B"/>
                </a:solidFill>
                <a:latin typeface="Arial"/>
                <a:ea typeface="Arial"/>
                <a:cs typeface="Arial"/>
              </a:rPr>
              <a:t>Sin GPS, conexión a transportistas ni notificaciones en esta entrega.</a:t>
            </a:r>
          </a:p>
        </p:txBody>
      </p:sp>
    </p:spTree>
    <p:extLst>
      <p:ext uri="{BB962C8B-B14F-4D97-AF65-F5344CB8AC3E}">
        <p14:creationId xmlns:p14="http://schemas.microsoft.com/office/powerpoint/2010/main" val="7792662"/>
      </p:ext>
    </p:extLst>
  </p:cSld>
</p:sld>
</file>

<file path=ppt/slides/slide12.xml><?xml version="1.0" encoding="utf-8"?>
<p:sld xmlns:p="http://schemas.openxmlformats.org/presentationml/2006/main">
  <p:cSld>
    <p:bg>
      <p:bgPr>
        <a:solidFill xmlns:a="http://schemas.openxmlformats.org/drawingml/2006/main">
          <a:srgbClr val="173C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A1F417-9016-4682-985F-0A3B96C1871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Demostración de funcionamiento</a:t>
            </a:r>
          </a:p>
        </p:txBody>
      </p:sp>
      <p:sp>
        <p:nvSpPr>
          <p:cNvPr id="2" name="">
            <a:extLst xmlns:a="http://schemas.openxmlformats.org/drawingml/2006/main">
              <a:ext uri="{FF2B5EF4-FFF2-40B4-BE49-F238E27FC236}">
                <a16:creationId xmlns:a16="http://schemas.microsoft.com/office/drawing/2014/main" id="{BB75927A-9EF6-4B28-8C2F-911903DF3F43}"/>
              </a:ext>
            </a:extLst>
          </p:cNvPr>
          <p:cNvSpPr>
            <a:spLocks xmlns:a="http://schemas.openxmlformats.org/drawingml/2006/main" noGrp="1"/>
          </p:cNvSpPr>
          <p:nvPr/>
        </p:nvSpPr>
        <p:spPr>
          <a:xfrm xmlns:a="http://schemas.openxmlformats.org/drawingml/2006/main">
            <a:off x="10810875" y="641032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7E2DA"/>
                </a:solidFill>
                <a:latin typeface="Arial"/>
                <a:ea typeface="Arial"/>
                <a:cs typeface="Arial"/>
              </a:defRPr>
            </a:pPr>
            <a:r>
              <a:rPr sz="1350" b="0">
                <a:solidFill>
                  <a:srgbClr val="C7E2DA"/>
                </a:solidFill>
                <a:latin typeface="Arial"/>
                <a:ea typeface="Arial"/>
                <a:cs typeface="Arial"/>
              </a:rPr>
              <a:t>12  /  12</a:t>
            </a:r>
          </a:p>
        </p:txBody>
      </p:sp>
      <p:sp>
        <p:nvSpPr>
          <p:cNvPr id="3" name="">
            <a:extLst xmlns:a="http://schemas.openxmlformats.org/drawingml/2006/main">
              <a:ext uri="{FF2B5EF4-FFF2-40B4-BE49-F238E27FC236}">
                <a16:creationId xmlns:a16="http://schemas.microsoft.com/office/drawing/2014/main" id="{4E44ADF8-EDC6-4C75-B5DA-E89B250B3C36}"/>
              </a:ext>
            </a:extLst>
          </p:cNvPr>
          <p:cNvSpPr>
            <a:spLocks xmlns:a="http://schemas.openxmlformats.org/drawingml/2006/main" noGrp="1"/>
          </p:cNvSpPr>
          <p:nvPr/>
        </p:nvSpPr>
        <p:spPr>
          <a:xfrm xmlns:a="http://schemas.openxmlformats.org/drawingml/2006/main">
            <a:off x="609600" y="19431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Un paquete, todo el recorrido</a:t>
            </a:r>
          </a:p>
        </p:txBody>
      </p:sp>
      <p:sp>
        <p:nvSpPr>
          <p:cNvPr id="4" name="">
            <a:extLst xmlns:a="http://schemas.openxmlformats.org/drawingml/2006/main">
              <a:ext uri="{FF2B5EF4-FFF2-40B4-BE49-F238E27FC236}">
                <a16:creationId xmlns:a16="http://schemas.microsoft.com/office/drawing/2014/main" id="{C61824A7-581D-4D3A-909F-C22A9DE6446A}"/>
              </a:ext>
            </a:extLst>
          </p:cNvPr>
          <p:cNvSpPr>
            <a:spLocks xmlns:a="http://schemas.openxmlformats.org/drawingml/2006/main" noGrp="1"/>
          </p:cNvSpPr>
          <p:nvPr/>
        </p:nvSpPr>
        <p:spPr>
          <a:xfrm xmlns:a="http://schemas.openxmlformats.org/drawingml/2006/main">
            <a:off x="647700" y="3238500"/>
            <a:ext cx="104775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C7E2DA"/>
                </a:solidFill>
                <a:latin typeface="Arial"/>
                <a:ea typeface="Arial"/>
                <a:cs typeface="Arial"/>
              </a:defRPr>
            </a:pPr>
            <a:r>
              <a:rPr sz="2550" b="0">
                <a:solidFill>
                  <a:srgbClr val="C7E2DA"/>
                </a:solidFill>
                <a:latin typeface="Arial"/>
                <a:ea typeface="Arial"/>
                <a:cs typeface="Arial"/>
              </a:rPr>
              <a:t>Registro y acceso</a:t>
            </a:r>
          </a:p>
          <a:p xmlns:a="http://schemas.openxmlformats.org/drawingml/2006/main">
            <a:pPr>
              <a:defRPr sz="2550" b="0">
                <a:solidFill>
                  <a:srgbClr val="C7E2DA"/>
                </a:solidFill>
                <a:latin typeface="Arial"/>
                <a:ea typeface="Arial"/>
                <a:cs typeface="Arial"/>
              </a:defRPr>
            </a:pPr>
            <a:r>
              <a:rPr sz="2550" b="0">
                <a:solidFill>
                  <a:srgbClr val="C7E2DA"/>
                </a:solidFill>
                <a:latin typeface="Arial"/>
                <a:ea typeface="Arial"/>
                <a:cs typeface="Arial"/>
              </a:rPr>
              <a:t>Administración del envío</a:t>
            </a:r>
          </a:p>
          <a:p xmlns:a="http://schemas.openxmlformats.org/drawingml/2006/main">
            <a:pPr>
              <a:defRPr sz="2550" b="0">
                <a:solidFill>
                  <a:srgbClr val="C7E2DA"/>
                </a:solidFill>
                <a:latin typeface="Arial"/>
                <a:ea typeface="Arial"/>
                <a:cs typeface="Arial"/>
              </a:defRPr>
            </a:pPr>
            <a:r>
              <a:rPr sz="2550" b="0">
                <a:solidFill>
                  <a:srgbClr val="C7E2DA"/>
                </a:solidFill>
                <a:latin typeface="Arial"/>
                <a:ea typeface="Arial"/>
                <a:cs typeface="Arial"/>
              </a:rPr>
              <a:t>Consulta del cliente y perfil</a:t>
            </a:r>
          </a:p>
          <a:p xmlns:a="http://schemas.openxmlformats.org/drawingml/2006/main">
            <a:pPr>
              <a:defRPr sz="2550" b="0">
                <a:solidFill>
                  <a:srgbClr val="C7E2DA"/>
                </a:solidFill>
                <a:latin typeface="Arial"/>
                <a:ea typeface="Arial"/>
                <a:cs typeface="Arial"/>
              </a:defRPr>
            </a:pPr>
            <a:r>
              <a:rPr sz="2550" b="0">
                <a:solidFill>
                  <a:srgbClr val="C7E2DA"/>
                </a:solidFill>
                <a:latin typeface="Arial"/>
                <a:ea typeface="Arial"/>
                <a:cs typeface="Arial"/>
              </a:rPr>
              <a:t>Reasignación y eliminación</a:t>
            </a:r>
          </a:p>
        </p:txBody>
      </p:sp>
      <p:sp>
        <p:nvSpPr>
          <p:cNvPr id="5" name="">
            <a:extLst xmlns:a="http://schemas.openxmlformats.org/drawingml/2006/main">
              <a:ext uri="{FF2B5EF4-FFF2-40B4-BE49-F238E27FC236}">
                <a16:creationId xmlns:a16="http://schemas.microsoft.com/office/drawing/2014/main" id="{381A54A2-A89F-4B2D-94A6-5BBDBE8F7BC1}"/>
              </a:ext>
            </a:extLst>
          </p:cNvPr>
          <p:cNvSpPr>
            <a:spLocks xmlns:a="http://schemas.openxmlformats.org/drawingml/2006/main" noGrp="1"/>
          </p:cNvSpPr>
          <p:nvPr/>
        </p:nvSpPr>
        <p:spPr>
          <a:xfrm xmlns:a="http://schemas.openxmlformats.org/drawingml/2006/main">
            <a:off x="647700" y="5867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Video de respaldo sin audio</a:t>
            </a:r>
          </a:p>
        </p:txBody>
      </p:sp>
    </p:spTree>
    <p:extLst>
      <p:ext uri="{BB962C8B-B14F-4D97-AF65-F5344CB8AC3E}">
        <p14:creationId xmlns:p14="http://schemas.microsoft.com/office/powerpoint/2010/main" val="1850011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2026-09-25T22:16:57.5270000Z</dcterms:created>
  <dcterms:modified xsi:type="dcterms:W3CDTF">2026-09-25T22:16:57.5270000Z</dcterms:modified>
</coreProperties>
</file>